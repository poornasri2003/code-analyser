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12E"/>
                </a:solidFill>
                <a:latin typeface="Arial"/>
              </a:defRPr>
            </a:pPr>
            <a:r>
              <a:rPr sz="1400" b="0" i="0" u="none" strike="noStrike">
                <a:solidFill>
                  <a:srgbClr val="13212E"/>
                </a:solidFill>
                <a:latin typeface="Arial"/>
              </a:rPr>
              <a:t>Cumulative files read by the LLM</a:t>
            </a:r>
          </a:p>
        </c:rich>
      </c:tx>
      <c:layout/>
      <c:overlay val="0"/>
    </c:title>
    <c:autoTitleDeleted val="0"/>
    <c:plotArea>
      <c:layout/>
      <c:lineChart>
        <c:varyColors val="0"/>
        <c:ser>
          <c:idx val="0"/>
          <c:order val="0"/>
          <c:tx>
            <c:strRef>
              <c:f>Sheet1!$B$1</c:f>
              <c:strCache>
                <c:ptCount val="1"/>
                <c:pt idx="0">
                  <c:v>Chat over raw files</c:v>
                </c:pt>
              </c:strCache>
            </c:strRef>
          </c:tx>
          <c:spPr>
            <a:solidFill>
              <a:srgbClr val="C8553D"/>
            </a:solidFill>
            <a:ln w="38100" cap="flat">
              <a:solidFill>
                <a:srgbClr val="C855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8553D"/>
              </a:solidFill>
              <a:ln w="9525" cap="flat">
                <a:solidFill>
                  <a:srgbClr val="C8553D"/>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150</c:v>
                </c:pt>
                <c:pt idx="1">
                  <c:v>300</c:v>
                </c:pt>
                <c:pt idx="2">
                  <c:v>450</c:v>
                </c:pt>
                <c:pt idx="3">
                  <c:v>600</c:v>
                </c:pt>
                <c:pt idx="4">
                  <c:v>750</c:v>
                </c:pt>
                <c:pt idx="5">
                  <c:v>900</c:v>
                </c:pt>
                <c:pt idx="6">
                  <c:v>1050</c:v>
                </c:pt>
                <c:pt idx="7">
                  <c:v>1200</c:v>
                </c:pt>
                <c:pt idx="8">
                  <c:v>1350</c:v>
                </c:pt>
                <c:pt idx="9">
                  <c:v>1500</c:v>
                </c:pt>
              </c:numCache>
            </c:numRef>
          </c:val>
          <c:smooth val="0"/>
        </c:ser>
        <c:ser>
          <c:idx val="1"/>
          <c:order val="1"/>
          <c:tx>
            <c:strRef>
              <c:f>Sheet1!$C$1</c:f>
              <c:strCache>
                <c:ptCount val="1"/>
                <c:pt idx="0">
                  <c:v>Cartograph</c:v>
                </c:pt>
              </c:strCache>
            </c:strRef>
          </c:tx>
          <c:spPr>
            <a:solidFill>
              <a:srgbClr val="0E9F8E"/>
            </a:solidFill>
            <a:ln w="38100" cap="flat">
              <a:solidFill>
                <a:srgbClr val="0E9F8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E9F8E"/>
              </a:solidFill>
              <a:ln w="9525" cap="flat">
                <a:solidFill>
                  <a:srgbClr val="0E9F8E"/>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150</c:v>
                </c:pt>
                <c:pt idx="1">
                  <c:v>150</c:v>
                </c:pt>
                <c:pt idx="2">
                  <c:v>150</c:v>
                </c:pt>
                <c:pt idx="3">
                  <c:v>150</c:v>
                </c:pt>
                <c:pt idx="4">
                  <c:v>150</c:v>
                </c:pt>
                <c:pt idx="5">
                  <c:v>150</c:v>
                </c:pt>
                <c:pt idx="6">
                  <c:v>150</c:v>
                </c:pt>
                <c:pt idx="7">
                  <c:v>150</c:v>
                </c:pt>
                <c:pt idx="8">
                  <c:v>150</c:v>
                </c:pt>
                <c:pt idx="9">
                  <c:v>150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7A"/>
                    </a:solidFill>
                    <a:latin typeface="Arial"/>
                  </a:defRPr>
                </a:pPr>
                <a:r>
                  <a:rPr sz="1100" b="0" i="0" u="none" strike="noStrike">
                    <a:solidFill>
                      <a:srgbClr val="5B6B7A"/>
                    </a:solidFill>
                    <a:latin typeface="Arial"/>
                  </a:rPr>
                  <a:t>Questions asked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3212E"/>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Cartograph turns an unfamiliar codebase into a knowledge graph once, then answers questions from that graph with citations. IBM Bob 2.0 built it, and Bob can also power it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code before changing it is unpaid work that repeats at onboarding, when a service is inherited, and on every review of unfamiliar code. The result is disposable: nobody writes the map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fix is to paste the repository into a chat assistant. It re-reads files for every question, hits the context window, and gives answers you cannot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Cartograph a Git URL or a zip. It builds a knowledge graph of the whole codebase once. Every question after that is answered from the graph, with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lane runs once per repository: walk the files, let the Planner route and prioritise them, extract nodes with the Code and Doc agents, validate, link across files, embed and store. Bottom lane runs per question: embed, retrieve a subgraph, answer from it, and check every citation before returning.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LLM agents do the reading and reasoning. Everything else is plain Python: file access, validation, ids, embedding and storage. That keeps the graph trustworthy even when a model misbehaves.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design choices make Cartograph trustworthy: answers fail closed, model output is validated before storage, the file budget goes to what matters, and the linker makes it one graph instead of a pile of summaries.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is in the cost curve. Chat over raw files re-reads the repository for every question. Cartograph pays that cost once, and every later question only needs a small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developer pastes a URL or uploads a zip, watches the live trace as the agents work, explores the resulting graph, and asks questions. The answers cite the nodes they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gave Bob the full hackathon brief and it pulled out the requirements. It then planned the build in phases and wrote fifty files in Agent mode. Its full-repo context caught a contract mismatch between the orchestrator and the store. Bob is also a runtime provider inside Cartograph. Screenshots are in the bob_sessions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Bob built Cartograph, Bob Shell can run it, and watsonx.ai with Granite is the default provider in the code. The test suite runs fully offline, and the app ships with configs for four free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Cartograph makes understanding a codebase a one-time cost that the whole team can reuse. Next we plan to add a watsonx Orchestrate agent, incremental updates from git diffs, and a PR-review mode.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2A"/>
        </a:solidFill>
      </p:bgPr>
    </p:bg>
    <p:spTree>
      <p:nvGrpSpPr>
        <p:cNvPr id="1" name=""/>
        <p:cNvGrpSpPr/>
        <p:nvPr/>
      </p:nvGrpSpPr>
      <p:grpSpPr>
        <a:xfrm>
          <a:off x="0" y="0"/>
          <a:ext cx="0" cy="0"/>
          <a:chOff x="0" y="0"/>
          <a:chExt cx="0" cy="0"/>
        </a:xfrm>
      </p:grpSpPr>
      <p:sp>
        <p:nvSpPr>
          <p:cNvPr id="2" name="Text 0"/>
          <p:cNvSpPr txBox="1"/>
          <p:nvPr/>
        </p:nvSpPr>
        <p:spPr>
          <a:xfrm>
            <a:off x="640080" y="1097280"/>
            <a:ext cx="5486400" cy="320040"/>
          </a:xfrm>
          <a:prstGeom prst="rect">
            <a:avLst/>
          </a:prstGeom>
          <a:noFill/>
          <a:ln/>
        </p:spPr>
        <p:txBody>
          <a:bodyPr wrap="square" lIns="0" tIns="0" rIns="0" bIns="0" rtlCol="0" anchor="t"/>
          <a:lstStyle/>
          <a:p>
            <a:pPr indent="0" marL="0">
              <a:buNone/>
            </a:pPr>
            <a:r>
              <a:rPr lang="en-US" sz="1300" b="1" spc="400" kern="0" dirty="0">
                <a:solidFill>
                  <a:srgbClr val="F2A541"/>
                </a:solidFill>
                <a:latin typeface="Calibri" pitchFamily="34" charset="0"/>
                <a:ea typeface="Calibri" pitchFamily="34" charset="-122"/>
                <a:cs typeface="Calibri" pitchFamily="34" charset="-120"/>
              </a:rPr>
              <a:t>IBM BOB 2.0 HACKATHON</a:t>
            </a:r>
            <a:endParaRPr lang="en-US" sz="1300" dirty="0"/>
          </a:p>
        </p:txBody>
      </p:sp>
      <p:sp>
        <p:nvSpPr>
          <p:cNvPr id="3" name="Text 1"/>
          <p:cNvSpPr txBox="1"/>
          <p:nvPr/>
        </p:nvSpPr>
        <p:spPr>
          <a:xfrm>
            <a:off x="640080" y="1508760"/>
            <a:ext cx="6035040" cy="1097280"/>
          </a:xfrm>
          <a:prstGeom prst="rect">
            <a:avLst/>
          </a:prstGeom>
          <a:noFill/>
          <a:ln/>
        </p:spPr>
        <p:txBody>
          <a:bodyPr wrap="square" lIns="0" tIns="0" rIns="0" bIns="0" rtlCol="0" anchor="t"/>
          <a:lstStyle/>
          <a:p>
            <a:pPr indent="0" marL="0">
              <a:buNone/>
            </a:pPr>
            <a:r>
              <a:rPr lang="en-US" sz="6600" b="1" dirty="0">
                <a:solidFill>
                  <a:srgbClr val="FFFFFF"/>
                </a:solidFill>
                <a:latin typeface="Cambria" pitchFamily="34" charset="0"/>
                <a:ea typeface="Cambria" pitchFamily="34" charset="-122"/>
                <a:cs typeface="Cambria" pitchFamily="34" charset="-120"/>
              </a:rPr>
              <a:t>Cartograph</a:t>
            </a:r>
            <a:endParaRPr lang="en-US" sz="6600" dirty="0"/>
          </a:p>
        </p:txBody>
      </p:sp>
      <p:sp>
        <p:nvSpPr>
          <p:cNvPr id="4" name="Text 2"/>
          <p:cNvSpPr txBox="1"/>
          <p:nvPr/>
        </p:nvSpPr>
        <p:spPr>
          <a:xfrm>
            <a:off x="640080" y="2788920"/>
            <a:ext cx="5669280" cy="1005840"/>
          </a:xfrm>
          <a:prstGeom prst="rect">
            <a:avLst/>
          </a:prstGeom>
          <a:noFill/>
          <a:ln/>
        </p:spPr>
        <p:txBody>
          <a:bodyPr wrap="square" lIns="0" tIns="0" rIns="0" bIns="0" rtlCol="0" anchor="t"/>
          <a:lstStyle/>
          <a:p>
            <a:pPr indent="0" marL="0">
              <a:buNone/>
            </a:pPr>
            <a:r>
              <a:rPr lang="en-US" sz="2100" dirty="0">
                <a:solidFill>
                  <a:srgbClr val="C9D6E0"/>
                </a:solidFill>
                <a:latin typeface="Calibri" pitchFamily="34" charset="0"/>
                <a:ea typeface="Calibri" pitchFamily="34" charset="-122"/>
                <a:cs typeface="Calibri" pitchFamily="34" charset="-120"/>
              </a:rPr>
              <a:t>Map any codebase into a knowledge graph — then ask it questions and get answers with citations.</a:t>
            </a:r>
            <a:endParaRPr lang="en-US" sz="2100" dirty="0"/>
          </a:p>
        </p:txBody>
      </p:sp>
      <p:sp>
        <p:nvSpPr>
          <p:cNvPr id="5" name="Text 3"/>
          <p:cNvSpPr txBox="1"/>
          <p:nvPr/>
        </p:nvSpPr>
        <p:spPr>
          <a:xfrm>
            <a:off x="640080" y="4069080"/>
            <a:ext cx="5852160" cy="731520"/>
          </a:xfrm>
          <a:prstGeom prst="rect">
            <a:avLst/>
          </a:prstGeom>
          <a:noFill/>
          <a:ln/>
        </p:spPr>
        <p:txBody>
          <a:bodyPr wrap="square" lIns="0" tIns="0" rIns="0" bIns="0" rtlCol="0" anchor="t"/>
          <a:lstStyle/>
          <a:p>
            <a:pPr indent="0" marL="0">
              <a:spcAft>
                <a:spcPts val="400"/>
              </a:spcAft>
              <a:buNone/>
            </a:pPr>
            <a:r>
              <a:rPr lang="en-US" sz="1500" b="1" dirty="0">
                <a:solidFill>
                  <a:srgbClr val="0E9F8E"/>
                </a:solidFill>
                <a:latin typeface="Calibri" pitchFamily="34" charset="0"/>
                <a:ea typeface="Calibri" pitchFamily="34" charset="-122"/>
                <a:cs typeface="Calibri" pitchFamily="34" charset="-120"/>
              </a:rPr>
              <a:t>Read once. Answer from the graph. Refuse to bluff.</a:t>
            </a:r>
            <a:endParaRPr lang="en-US" sz="1500" dirty="0"/>
          </a:p>
          <a:p>
            <a:pPr indent="0" marL="0">
              <a:spcAft>
                <a:spcPts val="400"/>
              </a:spcAft>
              <a:buNone/>
            </a:pPr>
            <a:r>
              <a:rPr lang="en-US" sz="1500" dirty="0">
                <a:solidFill>
                  <a:srgbClr val="C9D6E0"/>
                </a:solidFill>
                <a:latin typeface="Calibri" pitchFamily="34" charset="0"/>
                <a:ea typeface="Calibri" pitchFamily="34" charset="-122"/>
                <a:cs typeface="Calibri" pitchFamily="34" charset="-120"/>
              </a:rPr>
              <a:t>Built with IBM Bob 2.0  ·  watsonx.ai-ready  ·  Bob Shell provider</a:t>
            </a:r>
            <a:endParaRPr lang="en-US" sz="1500" dirty="0"/>
          </a:p>
        </p:txBody>
      </p:sp>
      <p:sp>
        <p:nvSpPr>
          <p:cNvPr id="6" name="Text 4"/>
          <p:cNvSpPr txBox="1"/>
          <p:nvPr/>
        </p:nvSpPr>
        <p:spPr>
          <a:xfrm>
            <a:off x="640080" y="5989320"/>
            <a:ext cx="640080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Team Poornasri2003   ·   github.com/Poornasri2003/code-analyser</a:t>
            </a:r>
            <a:endParaRPr lang="en-US" sz="1200" dirty="0"/>
          </a:p>
        </p:txBody>
      </p:sp>
      <p:sp>
        <p:nvSpPr>
          <p:cNvPr id="7" name="Shape 5"/>
          <p:cNvSpPr/>
          <p:nvPr/>
        </p:nvSpPr>
        <p:spPr>
          <a:xfrm>
            <a:off x="7269480" y="1325880"/>
            <a:ext cx="1600200" cy="1737360"/>
          </a:xfrm>
          <a:prstGeom prst="line">
            <a:avLst/>
          </a:prstGeom>
          <a:noFill/>
          <a:ln w="19050">
            <a:solidFill>
              <a:srgbClr val="2F5673"/>
            </a:solidFill>
            <a:prstDash val="solid"/>
          </a:ln>
        </p:spPr>
      </p:sp>
      <p:sp>
        <p:nvSpPr>
          <p:cNvPr id="8" name="Shape 6"/>
          <p:cNvSpPr/>
          <p:nvPr/>
        </p:nvSpPr>
        <p:spPr>
          <a:xfrm flipV="1">
            <a:off x="8869680" y="1234440"/>
            <a:ext cx="1874520" cy="1828800"/>
          </a:xfrm>
          <a:prstGeom prst="line">
            <a:avLst/>
          </a:prstGeom>
          <a:noFill/>
          <a:ln w="19050">
            <a:solidFill>
              <a:srgbClr val="2F5673"/>
            </a:solidFill>
            <a:prstDash val="solid"/>
          </a:ln>
        </p:spPr>
      </p:sp>
      <p:sp>
        <p:nvSpPr>
          <p:cNvPr id="9" name="Shape 7"/>
          <p:cNvSpPr/>
          <p:nvPr/>
        </p:nvSpPr>
        <p:spPr>
          <a:xfrm>
            <a:off x="8869680" y="3063240"/>
            <a:ext cx="2148840" cy="1097280"/>
          </a:xfrm>
          <a:prstGeom prst="line">
            <a:avLst/>
          </a:prstGeom>
          <a:noFill/>
          <a:ln w="19050">
            <a:solidFill>
              <a:srgbClr val="2F5673"/>
            </a:solidFill>
            <a:prstDash val="solid"/>
          </a:ln>
        </p:spPr>
      </p:sp>
      <p:sp>
        <p:nvSpPr>
          <p:cNvPr id="10" name="Shape 8"/>
          <p:cNvSpPr/>
          <p:nvPr/>
        </p:nvSpPr>
        <p:spPr>
          <a:xfrm>
            <a:off x="8869680" y="3063240"/>
            <a:ext cx="228600" cy="2194560"/>
          </a:xfrm>
          <a:prstGeom prst="line">
            <a:avLst/>
          </a:prstGeom>
          <a:noFill/>
          <a:ln w="19050">
            <a:solidFill>
              <a:srgbClr val="2F5673"/>
            </a:solidFill>
            <a:prstDash val="solid"/>
          </a:ln>
        </p:spPr>
      </p:sp>
      <p:sp>
        <p:nvSpPr>
          <p:cNvPr id="11" name="Shape 9"/>
          <p:cNvSpPr/>
          <p:nvPr/>
        </p:nvSpPr>
        <p:spPr>
          <a:xfrm flipV="1">
            <a:off x="7040880" y="3063240"/>
            <a:ext cx="1828800" cy="1280160"/>
          </a:xfrm>
          <a:prstGeom prst="line">
            <a:avLst/>
          </a:prstGeom>
          <a:noFill/>
          <a:ln w="19050">
            <a:solidFill>
              <a:srgbClr val="2F5673"/>
            </a:solidFill>
            <a:prstDash val="solid"/>
          </a:ln>
        </p:spPr>
      </p:sp>
      <p:sp>
        <p:nvSpPr>
          <p:cNvPr id="12" name="Shape 10"/>
          <p:cNvSpPr/>
          <p:nvPr/>
        </p:nvSpPr>
        <p:spPr>
          <a:xfrm flipV="1">
            <a:off x="7269480" y="731520"/>
            <a:ext cx="1051560" cy="594360"/>
          </a:xfrm>
          <a:prstGeom prst="line">
            <a:avLst/>
          </a:prstGeom>
          <a:noFill/>
          <a:ln w="19050">
            <a:solidFill>
              <a:srgbClr val="2F5673"/>
            </a:solidFill>
            <a:prstDash val="solid"/>
          </a:ln>
        </p:spPr>
      </p:sp>
      <p:sp>
        <p:nvSpPr>
          <p:cNvPr id="13" name="Shape 11"/>
          <p:cNvSpPr/>
          <p:nvPr/>
        </p:nvSpPr>
        <p:spPr>
          <a:xfrm>
            <a:off x="10744200" y="1234440"/>
            <a:ext cx="914400" cy="1463040"/>
          </a:xfrm>
          <a:prstGeom prst="line">
            <a:avLst/>
          </a:prstGeom>
          <a:noFill/>
          <a:ln w="19050">
            <a:solidFill>
              <a:srgbClr val="2F5673"/>
            </a:solidFill>
            <a:prstDash val="solid"/>
          </a:ln>
        </p:spPr>
      </p:sp>
      <p:sp>
        <p:nvSpPr>
          <p:cNvPr id="14" name="Shape 12"/>
          <p:cNvSpPr/>
          <p:nvPr/>
        </p:nvSpPr>
        <p:spPr>
          <a:xfrm flipV="1">
            <a:off x="7635240" y="5257800"/>
            <a:ext cx="1463040" cy="731520"/>
          </a:xfrm>
          <a:prstGeom prst="line">
            <a:avLst/>
          </a:prstGeom>
          <a:noFill/>
          <a:ln w="19050">
            <a:solidFill>
              <a:srgbClr val="2F5673"/>
            </a:solidFill>
            <a:prstDash val="solid"/>
          </a:ln>
        </p:spPr>
      </p:sp>
      <p:sp>
        <p:nvSpPr>
          <p:cNvPr id="15" name="Shape 13"/>
          <p:cNvSpPr/>
          <p:nvPr/>
        </p:nvSpPr>
        <p:spPr>
          <a:xfrm flipV="1">
            <a:off x="10424160" y="4160520"/>
            <a:ext cx="594360" cy="1737360"/>
          </a:xfrm>
          <a:prstGeom prst="line">
            <a:avLst/>
          </a:prstGeom>
          <a:noFill/>
          <a:ln w="19050">
            <a:solidFill>
              <a:srgbClr val="2F5673"/>
            </a:solidFill>
            <a:prstDash val="solid"/>
          </a:ln>
        </p:spPr>
      </p:sp>
      <p:sp>
        <p:nvSpPr>
          <p:cNvPr id="16" name="Shape 14"/>
          <p:cNvSpPr/>
          <p:nvPr/>
        </p:nvSpPr>
        <p:spPr>
          <a:xfrm flipV="1">
            <a:off x="7040880" y="1325880"/>
            <a:ext cx="228600" cy="3017520"/>
          </a:xfrm>
          <a:prstGeom prst="line">
            <a:avLst/>
          </a:prstGeom>
          <a:noFill/>
          <a:ln w="19050">
            <a:solidFill>
              <a:srgbClr val="2F5673"/>
            </a:solidFill>
            <a:prstDash val="solid"/>
          </a:ln>
        </p:spPr>
      </p:sp>
      <p:sp>
        <p:nvSpPr>
          <p:cNvPr id="17" name="Shape 15"/>
          <p:cNvSpPr/>
          <p:nvPr/>
        </p:nvSpPr>
        <p:spPr>
          <a:xfrm flipV="1">
            <a:off x="9098280" y="4160520"/>
            <a:ext cx="1920240" cy="1097280"/>
          </a:xfrm>
          <a:prstGeom prst="line">
            <a:avLst/>
          </a:prstGeom>
          <a:noFill/>
          <a:ln w="19050">
            <a:solidFill>
              <a:srgbClr val="2F5673"/>
            </a:solidFill>
            <a:prstDash val="solid"/>
          </a:ln>
        </p:spPr>
      </p:sp>
      <p:sp>
        <p:nvSpPr>
          <p:cNvPr id="18" name="Shape 16"/>
          <p:cNvSpPr/>
          <p:nvPr/>
        </p:nvSpPr>
        <p:spPr>
          <a:xfrm>
            <a:off x="8206740" y="2400300"/>
            <a:ext cx="1325880" cy="1325880"/>
          </a:xfrm>
          <a:prstGeom prst="ellipse">
            <a:avLst/>
          </a:prstGeom>
          <a:solidFill>
            <a:srgbClr val="0E9F8E"/>
          </a:solidFill>
          <a:ln w="6350">
            <a:solidFill>
              <a:srgbClr val="0E9F8E"/>
            </a:solidFill>
            <a:prstDash val="solid"/>
          </a:ln>
        </p:spPr>
      </p:sp>
      <p:sp>
        <p:nvSpPr>
          <p:cNvPr id="19" name="Text 17"/>
          <p:cNvSpPr txBox="1"/>
          <p:nvPr/>
        </p:nvSpPr>
        <p:spPr>
          <a:xfrm>
            <a:off x="7932420" y="2898648"/>
            <a:ext cx="187452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orchestrator</a:t>
            </a:r>
            <a:endParaRPr lang="en-US" sz="1300" dirty="0"/>
          </a:p>
        </p:txBody>
      </p:sp>
      <p:sp>
        <p:nvSpPr>
          <p:cNvPr id="20" name="Shape 18"/>
          <p:cNvSpPr/>
          <p:nvPr/>
        </p:nvSpPr>
        <p:spPr>
          <a:xfrm>
            <a:off x="6812280" y="868680"/>
            <a:ext cx="914400" cy="914400"/>
          </a:xfrm>
          <a:prstGeom prst="ellipse">
            <a:avLst/>
          </a:prstGeom>
          <a:solidFill>
            <a:srgbClr val="16324A"/>
          </a:solidFill>
          <a:ln w="25400">
            <a:solidFill>
              <a:srgbClr val="0E9F8E"/>
            </a:solidFill>
            <a:prstDash val="solid"/>
          </a:ln>
        </p:spPr>
      </p:sp>
      <p:sp>
        <p:nvSpPr>
          <p:cNvPr id="21" name="Text 19"/>
          <p:cNvSpPr txBox="1"/>
          <p:nvPr/>
        </p:nvSpPr>
        <p:spPr>
          <a:xfrm>
            <a:off x="6537960" y="1161288"/>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api.py</a:t>
            </a:r>
            <a:endParaRPr lang="en-US" sz="1100" dirty="0"/>
          </a:p>
        </p:txBody>
      </p:sp>
      <p:sp>
        <p:nvSpPr>
          <p:cNvPr id="22" name="Shape 20"/>
          <p:cNvSpPr/>
          <p:nvPr/>
        </p:nvSpPr>
        <p:spPr>
          <a:xfrm>
            <a:off x="10287000" y="777240"/>
            <a:ext cx="914400" cy="914400"/>
          </a:xfrm>
          <a:prstGeom prst="ellipse">
            <a:avLst/>
          </a:prstGeom>
          <a:solidFill>
            <a:srgbClr val="16324A"/>
          </a:solidFill>
          <a:ln w="25400">
            <a:solidFill>
              <a:srgbClr val="0E9F8E"/>
            </a:solidFill>
            <a:prstDash val="solid"/>
          </a:ln>
        </p:spPr>
      </p:sp>
      <p:sp>
        <p:nvSpPr>
          <p:cNvPr id="23" name="Text 21"/>
          <p:cNvSpPr txBox="1"/>
          <p:nvPr/>
        </p:nvSpPr>
        <p:spPr>
          <a:xfrm>
            <a:off x="10012680" y="1069848"/>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planner</a:t>
            </a:r>
            <a:endParaRPr lang="en-US" sz="1100" dirty="0"/>
          </a:p>
        </p:txBody>
      </p:sp>
      <p:sp>
        <p:nvSpPr>
          <p:cNvPr id="24" name="Shape 22"/>
          <p:cNvSpPr/>
          <p:nvPr/>
        </p:nvSpPr>
        <p:spPr>
          <a:xfrm>
            <a:off x="10561320" y="3703320"/>
            <a:ext cx="914400" cy="914400"/>
          </a:xfrm>
          <a:prstGeom prst="ellipse">
            <a:avLst/>
          </a:prstGeom>
          <a:solidFill>
            <a:srgbClr val="16324A"/>
          </a:solidFill>
          <a:ln w="25400">
            <a:solidFill>
              <a:srgbClr val="0E9F8E"/>
            </a:solidFill>
            <a:prstDash val="solid"/>
          </a:ln>
        </p:spPr>
      </p:sp>
      <p:sp>
        <p:nvSpPr>
          <p:cNvPr id="25" name="Text 23"/>
          <p:cNvSpPr txBox="1"/>
          <p:nvPr/>
        </p:nvSpPr>
        <p:spPr>
          <a:xfrm>
            <a:off x="10287000" y="3995928"/>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linker</a:t>
            </a:r>
            <a:endParaRPr lang="en-US" sz="1100" dirty="0"/>
          </a:p>
        </p:txBody>
      </p:sp>
      <p:sp>
        <p:nvSpPr>
          <p:cNvPr id="26" name="Shape 24"/>
          <p:cNvSpPr/>
          <p:nvPr/>
        </p:nvSpPr>
        <p:spPr>
          <a:xfrm>
            <a:off x="8641080" y="4800600"/>
            <a:ext cx="914400" cy="914400"/>
          </a:xfrm>
          <a:prstGeom prst="ellipse">
            <a:avLst/>
          </a:prstGeom>
          <a:solidFill>
            <a:srgbClr val="F2A541"/>
          </a:solidFill>
          <a:ln w="6350">
            <a:solidFill>
              <a:srgbClr val="F2A541"/>
            </a:solidFill>
            <a:prstDash val="solid"/>
          </a:ln>
        </p:spPr>
      </p:sp>
      <p:sp>
        <p:nvSpPr>
          <p:cNvPr id="27" name="Text 25"/>
          <p:cNvSpPr txBox="1"/>
          <p:nvPr/>
        </p:nvSpPr>
        <p:spPr>
          <a:xfrm>
            <a:off x="8366760" y="5093208"/>
            <a:ext cx="1463040" cy="329184"/>
          </a:xfrm>
          <a:prstGeom prst="rect">
            <a:avLst/>
          </a:prstGeom>
          <a:noFill/>
          <a:ln/>
        </p:spPr>
        <p:txBody>
          <a:bodyPr wrap="square" lIns="0" tIns="0" rIns="0" bIns="0" rtlCol="0" anchor="ctr"/>
          <a:lstStyle/>
          <a:p>
            <a:pPr algn="ctr" indent="0" marL="0">
              <a:buNone/>
            </a:pPr>
            <a:r>
              <a:rPr lang="en-US" sz="1100" b="1" dirty="0">
                <a:solidFill>
                  <a:srgbClr val="0B1D2A"/>
                </a:solidFill>
                <a:latin typeface="Calibri" pitchFamily="34" charset="0"/>
                <a:ea typeface="Calibri" pitchFamily="34" charset="-122"/>
                <a:cs typeface="Calibri" pitchFamily="34" charset="-120"/>
              </a:rPr>
              <a:t>store</a:t>
            </a:r>
            <a:endParaRPr lang="en-US" sz="1100" dirty="0"/>
          </a:p>
        </p:txBody>
      </p:sp>
      <p:sp>
        <p:nvSpPr>
          <p:cNvPr id="28" name="Shape 26"/>
          <p:cNvSpPr/>
          <p:nvPr/>
        </p:nvSpPr>
        <p:spPr>
          <a:xfrm>
            <a:off x="6583680" y="3886200"/>
            <a:ext cx="914400" cy="914400"/>
          </a:xfrm>
          <a:prstGeom prst="ellipse">
            <a:avLst/>
          </a:prstGeom>
          <a:solidFill>
            <a:srgbClr val="16324A"/>
          </a:solidFill>
          <a:ln w="25400">
            <a:solidFill>
              <a:srgbClr val="0E9F8E"/>
            </a:solidFill>
            <a:prstDash val="solid"/>
          </a:ln>
        </p:spPr>
      </p:sp>
      <p:sp>
        <p:nvSpPr>
          <p:cNvPr id="29" name="Text 27"/>
          <p:cNvSpPr txBox="1"/>
          <p:nvPr/>
        </p:nvSpPr>
        <p:spPr>
          <a:xfrm>
            <a:off x="6309360" y="4178808"/>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README</a:t>
            </a:r>
            <a:endParaRPr lang="en-US" sz="1100" dirty="0"/>
          </a:p>
        </p:txBody>
      </p:sp>
      <p:sp>
        <p:nvSpPr>
          <p:cNvPr id="30" name="Shape 28"/>
          <p:cNvSpPr/>
          <p:nvPr/>
        </p:nvSpPr>
        <p:spPr>
          <a:xfrm>
            <a:off x="8193024" y="603504"/>
            <a:ext cx="256032" cy="256032"/>
          </a:xfrm>
          <a:prstGeom prst="ellipse">
            <a:avLst/>
          </a:prstGeom>
          <a:solidFill>
            <a:srgbClr val="5B6B7A"/>
          </a:solidFill>
          <a:ln w="6350">
            <a:solidFill>
              <a:srgbClr val="5B6B7A"/>
            </a:solidFill>
            <a:prstDash val="solid"/>
          </a:ln>
        </p:spPr>
      </p:sp>
      <p:sp>
        <p:nvSpPr>
          <p:cNvPr id="31" name="Shape 29"/>
          <p:cNvSpPr/>
          <p:nvPr/>
        </p:nvSpPr>
        <p:spPr>
          <a:xfrm>
            <a:off x="11530584" y="2569464"/>
            <a:ext cx="256032" cy="256032"/>
          </a:xfrm>
          <a:prstGeom prst="ellipse">
            <a:avLst/>
          </a:prstGeom>
          <a:solidFill>
            <a:srgbClr val="5B6B7A"/>
          </a:solidFill>
          <a:ln w="6350">
            <a:solidFill>
              <a:srgbClr val="5B6B7A"/>
            </a:solidFill>
            <a:prstDash val="solid"/>
          </a:ln>
        </p:spPr>
      </p:sp>
      <p:sp>
        <p:nvSpPr>
          <p:cNvPr id="32" name="Shape 30"/>
          <p:cNvSpPr/>
          <p:nvPr/>
        </p:nvSpPr>
        <p:spPr>
          <a:xfrm>
            <a:off x="7507224" y="5861304"/>
            <a:ext cx="256032" cy="256032"/>
          </a:xfrm>
          <a:prstGeom prst="ellipse">
            <a:avLst/>
          </a:prstGeom>
          <a:solidFill>
            <a:srgbClr val="5B6B7A"/>
          </a:solidFill>
          <a:ln w="6350">
            <a:solidFill>
              <a:srgbClr val="5B6B7A"/>
            </a:solidFill>
            <a:prstDash val="solid"/>
          </a:ln>
        </p:spPr>
      </p:sp>
      <p:sp>
        <p:nvSpPr>
          <p:cNvPr id="33" name="Shape 31"/>
          <p:cNvSpPr/>
          <p:nvPr/>
        </p:nvSpPr>
        <p:spPr>
          <a:xfrm>
            <a:off x="10296144" y="5769864"/>
            <a:ext cx="256032" cy="256032"/>
          </a:xfrm>
          <a:prstGeom prst="ellipse">
            <a:avLst/>
          </a:prstGeom>
          <a:solidFill>
            <a:srgbClr val="5B6B7A"/>
          </a:solidFill>
          <a:ln w="6350">
            <a:solidFill>
              <a:srgbClr val="5B6B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9144000" cy="274320"/>
          </a:xfrm>
          <a:prstGeom prst="rect">
            <a:avLst/>
          </a:prstGeom>
          <a:noFill/>
          <a:ln/>
        </p:spPr>
        <p:txBody>
          <a:bodyPr wrap="square" lIns="0" tIns="0" rIns="0" bIns="0" rtlCol="0" anchor="t"/>
          <a:lstStyle/>
          <a:p>
            <a:pPr indent="0" marL="0">
              <a:buNone/>
            </a:pPr>
            <a:r>
              <a:rPr lang="en-US" sz="1100" b="1" spc="300" kern="0" dirty="0">
                <a:solidFill>
                  <a:srgbClr val="0E9F8E"/>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13212E"/>
                </a:solidFill>
                <a:latin typeface="Cambria" pitchFamily="34" charset="0"/>
                <a:ea typeface="Cambria" pitchFamily="34" charset="-122"/>
                <a:cs typeface="Cambria" pitchFamily="34" charset="-120"/>
              </a:rPr>
              <a:t>The same codebase, re-learned every time</a:t>
            </a:r>
            <a:endParaRPr lang="en-US" sz="3400" dirty="0"/>
          </a:p>
        </p:txBody>
      </p:sp>
      <p:sp>
        <p:nvSpPr>
          <p:cNvPr id="4" name="Shape 2"/>
          <p:cNvSpPr/>
          <p:nvPr/>
        </p:nvSpPr>
        <p:spPr>
          <a:xfrm>
            <a:off x="548640" y="1508760"/>
            <a:ext cx="6309360" cy="1234440"/>
          </a:xfrm>
          <a:prstGeom prst="roundRect">
            <a:avLst>
              <a:gd name="adj" fmla="val 8889"/>
            </a:avLst>
          </a:prstGeom>
          <a:solidFill>
            <a:srgbClr val="EEF3F6"/>
          </a:solidFill>
          <a:ln w="6350">
            <a:solidFill>
              <a:srgbClr val="EEF3F6"/>
            </a:solidFill>
            <a:prstDash val="solid"/>
          </a:ln>
        </p:spPr>
      </p:sp>
      <p:sp>
        <p:nvSpPr>
          <p:cNvPr id="5" name="Shape 3"/>
          <p:cNvSpPr/>
          <p:nvPr/>
        </p:nvSpPr>
        <p:spPr>
          <a:xfrm>
            <a:off x="777240" y="1805940"/>
            <a:ext cx="640080" cy="640080"/>
          </a:xfrm>
          <a:prstGeom prst="ellipse">
            <a:avLst/>
          </a:prstGeom>
          <a:solidFill>
            <a:srgbClr val="0E9F8E"/>
          </a:solidFill>
          <a:ln w="6350">
            <a:solidFill>
              <a:srgbClr val="0E9F8E"/>
            </a:solidFill>
            <a:prstDash val="solid"/>
          </a:ln>
        </p:spPr>
      </p:sp>
      <p:sp>
        <p:nvSpPr>
          <p:cNvPr id="6" name="Text 4"/>
          <p:cNvSpPr txBox="1"/>
          <p:nvPr/>
        </p:nvSpPr>
        <p:spPr>
          <a:xfrm>
            <a:off x="502920" y="1961388"/>
            <a:ext cx="11887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645920" y="1709928"/>
            <a:ext cx="5029200" cy="365760"/>
          </a:xfrm>
          <a:prstGeom prst="rect">
            <a:avLst/>
          </a:prstGeom>
          <a:noFill/>
          <a:ln/>
        </p:spPr>
        <p:txBody>
          <a:bodyPr wrap="square" lIns="0" tIns="0" rIns="0" bIns="0" rtlCol="0" anchor="t"/>
          <a:lstStyle/>
          <a:p>
            <a:pPr indent="0" marL="0">
              <a:buNone/>
            </a:pPr>
            <a:r>
              <a:rPr lang="en-US" sz="1800" b="1" dirty="0">
                <a:solidFill>
                  <a:srgbClr val="13212E"/>
                </a:solidFill>
                <a:latin typeface="Calibri" pitchFamily="34" charset="0"/>
                <a:ea typeface="Calibri" pitchFamily="34" charset="-122"/>
                <a:cs typeface="Calibri" pitchFamily="34" charset="-120"/>
              </a:rPr>
              <a:t>Onboarding</a:t>
            </a:r>
            <a:endParaRPr lang="en-US" sz="1800" dirty="0"/>
          </a:p>
        </p:txBody>
      </p:sp>
      <p:sp>
        <p:nvSpPr>
          <p:cNvPr id="8" name="Text 6"/>
          <p:cNvSpPr txBox="1"/>
          <p:nvPr/>
        </p:nvSpPr>
        <p:spPr>
          <a:xfrm>
            <a:off x="1645920" y="2075688"/>
            <a:ext cx="5029200" cy="5943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A new joiner spends their first days finding the entry point, the call paths and the one module that matters.</a:t>
            </a:r>
            <a:endParaRPr lang="en-US" sz="1350" dirty="0"/>
          </a:p>
        </p:txBody>
      </p:sp>
      <p:sp>
        <p:nvSpPr>
          <p:cNvPr id="9" name="Shape 7"/>
          <p:cNvSpPr/>
          <p:nvPr/>
        </p:nvSpPr>
        <p:spPr>
          <a:xfrm>
            <a:off x="548640" y="2971800"/>
            <a:ext cx="6309360" cy="1234440"/>
          </a:xfrm>
          <a:prstGeom prst="roundRect">
            <a:avLst>
              <a:gd name="adj" fmla="val 8889"/>
            </a:avLst>
          </a:prstGeom>
          <a:solidFill>
            <a:srgbClr val="EEF3F6"/>
          </a:solidFill>
          <a:ln w="6350">
            <a:solidFill>
              <a:srgbClr val="EEF3F6"/>
            </a:solidFill>
            <a:prstDash val="solid"/>
          </a:ln>
        </p:spPr>
      </p:sp>
      <p:sp>
        <p:nvSpPr>
          <p:cNvPr id="10" name="Shape 8"/>
          <p:cNvSpPr/>
          <p:nvPr/>
        </p:nvSpPr>
        <p:spPr>
          <a:xfrm>
            <a:off x="777240" y="3268980"/>
            <a:ext cx="640080" cy="640080"/>
          </a:xfrm>
          <a:prstGeom prst="ellipse">
            <a:avLst/>
          </a:prstGeom>
          <a:solidFill>
            <a:srgbClr val="0E9F8E"/>
          </a:solidFill>
          <a:ln w="6350">
            <a:solidFill>
              <a:srgbClr val="0E9F8E"/>
            </a:solidFill>
            <a:prstDash val="solid"/>
          </a:ln>
        </p:spPr>
      </p:sp>
      <p:sp>
        <p:nvSpPr>
          <p:cNvPr id="11" name="Text 9"/>
          <p:cNvSpPr txBox="1"/>
          <p:nvPr/>
        </p:nvSpPr>
        <p:spPr>
          <a:xfrm>
            <a:off x="502920" y="3424428"/>
            <a:ext cx="11887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1645920" y="3172968"/>
            <a:ext cx="5029200" cy="365760"/>
          </a:xfrm>
          <a:prstGeom prst="rect">
            <a:avLst/>
          </a:prstGeom>
          <a:noFill/>
          <a:ln/>
        </p:spPr>
        <p:txBody>
          <a:bodyPr wrap="square" lIns="0" tIns="0" rIns="0" bIns="0" rtlCol="0" anchor="t"/>
          <a:lstStyle/>
          <a:p>
            <a:pPr indent="0" marL="0">
              <a:buNone/>
            </a:pPr>
            <a:r>
              <a:rPr lang="en-US" sz="1800" b="1" dirty="0">
                <a:solidFill>
                  <a:srgbClr val="13212E"/>
                </a:solidFill>
                <a:latin typeface="Calibri" pitchFamily="34" charset="0"/>
                <a:ea typeface="Calibri" pitchFamily="34" charset="-122"/>
                <a:cs typeface="Calibri" pitchFamily="34" charset="-120"/>
              </a:rPr>
              <a:t>Inheriting a service</a:t>
            </a:r>
            <a:endParaRPr lang="en-US" sz="1800" dirty="0"/>
          </a:p>
        </p:txBody>
      </p:sp>
      <p:sp>
        <p:nvSpPr>
          <p:cNvPr id="13" name="Text 11"/>
          <p:cNvSpPr txBox="1"/>
          <p:nvPr/>
        </p:nvSpPr>
        <p:spPr>
          <a:xfrm>
            <a:off x="1645920" y="3538728"/>
            <a:ext cx="5029200" cy="5943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The original author moved on. The only map of the system left with them.</a:t>
            </a:r>
            <a:endParaRPr lang="en-US" sz="1350" dirty="0"/>
          </a:p>
        </p:txBody>
      </p:sp>
      <p:sp>
        <p:nvSpPr>
          <p:cNvPr id="14" name="Shape 12"/>
          <p:cNvSpPr/>
          <p:nvPr/>
        </p:nvSpPr>
        <p:spPr>
          <a:xfrm>
            <a:off x="548640" y="4434840"/>
            <a:ext cx="6309360" cy="1234440"/>
          </a:xfrm>
          <a:prstGeom prst="roundRect">
            <a:avLst>
              <a:gd name="adj" fmla="val 8889"/>
            </a:avLst>
          </a:prstGeom>
          <a:solidFill>
            <a:srgbClr val="EEF3F6"/>
          </a:solidFill>
          <a:ln w="6350">
            <a:solidFill>
              <a:srgbClr val="EEF3F6"/>
            </a:solidFill>
            <a:prstDash val="solid"/>
          </a:ln>
        </p:spPr>
      </p:sp>
      <p:sp>
        <p:nvSpPr>
          <p:cNvPr id="15" name="Shape 13"/>
          <p:cNvSpPr/>
          <p:nvPr/>
        </p:nvSpPr>
        <p:spPr>
          <a:xfrm>
            <a:off x="777240" y="4732020"/>
            <a:ext cx="640080" cy="640080"/>
          </a:xfrm>
          <a:prstGeom prst="ellipse">
            <a:avLst/>
          </a:prstGeom>
          <a:solidFill>
            <a:srgbClr val="0E9F8E"/>
          </a:solidFill>
          <a:ln w="6350">
            <a:solidFill>
              <a:srgbClr val="0E9F8E"/>
            </a:solidFill>
            <a:prstDash val="solid"/>
          </a:ln>
        </p:spPr>
      </p:sp>
      <p:sp>
        <p:nvSpPr>
          <p:cNvPr id="16" name="Text 14"/>
          <p:cNvSpPr txBox="1"/>
          <p:nvPr/>
        </p:nvSpPr>
        <p:spPr>
          <a:xfrm>
            <a:off x="502920" y="4887468"/>
            <a:ext cx="11887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1645920" y="4636008"/>
            <a:ext cx="5029200" cy="365760"/>
          </a:xfrm>
          <a:prstGeom prst="rect">
            <a:avLst/>
          </a:prstGeom>
          <a:noFill/>
          <a:ln/>
        </p:spPr>
        <p:txBody>
          <a:bodyPr wrap="square" lIns="0" tIns="0" rIns="0" bIns="0" rtlCol="0" anchor="t"/>
          <a:lstStyle/>
          <a:p>
            <a:pPr indent="0" marL="0">
              <a:buNone/>
            </a:pPr>
            <a:r>
              <a:rPr lang="en-US" sz="1800" b="1" dirty="0">
                <a:solidFill>
                  <a:srgbClr val="13212E"/>
                </a:solidFill>
                <a:latin typeface="Calibri" pitchFamily="34" charset="0"/>
                <a:ea typeface="Calibri" pitchFamily="34" charset="-122"/>
                <a:cs typeface="Calibri" pitchFamily="34" charset="-120"/>
              </a:rPr>
              <a:t>Reviewing a PR</a:t>
            </a:r>
            <a:endParaRPr lang="en-US" sz="1800" dirty="0"/>
          </a:p>
        </p:txBody>
      </p:sp>
      <p:sp>
        <p:nvSpPr>
          <p:cNvPr id="18" name="Text 16"/>
          <p:cNvSpPr txBox="1"/>
          <p:nvPr/>
        </p:nvSpPr>
        <p:spPr>
          <a:xfrm>
            <a:off x="1645920" y="5001768"/>
            <a:ext cx="5029200" cy="594360"/>
          </a:xfrm>
          <a:prstGeom prst="rect">
            <a:avLst/>
          </a:prstGeom>
          <a:noFill/>
          <a:ln/>
        </p:spPr>
        <p:txBody>
          <a:bodyPr wrap="square" lIns="0" tIns="0" rIns="0" bIns="0" rtlCol="0" anchor="t"/>
          <a:lstStyle/>
          <a:p>
            <a:pPr indent="0" marL="0">
              <a:buNone/>
            </a:pPr>
            <a:r>
              <a:rPr lang="en-US" sz="1350" dirty="0">
                <a:solidFill>
                  <a:srgbClr val="5B6B7A"/>
                </a:solidFill>
                <a:latin typeface="Calibri" pitchFamily="34" charset="0"/>
                <a:ea typeface="Calibri" pitchFamily="34" charset="-122"/>
                <a:cs typeface="Calibri" pitchFamily="34" charset="-120"/>
              </a:rPr>
              <a:t>The reviewer has never read this module, so they approve the diff without seeing what it touches.</a:t>
            </a:r>
            <a:endParaRPr lang="en-US" sz="1350" dirty="0"/>
          </a:p>
        </p:txBody>
      </p:sp>
      <p:sp>
        <p:nvSpPr>
          <p:cNvPr id="19" name="Shape 17"/>
          <p:cNvSpPr/>
          <p:nvPr/>
        </p:nvSpPr>
        <p:spPr>
          <a:xfrm>
            <a:off x="7315200" y="1508760"/>
            <a:ext cx="4343400" cy="4160520"/>
          </a:xfrm>
          <a:prstGeom prst="roundRect">
            <a:avLst>
              <a:gd name="adj" fmla="val 2637"/>
            </a:avLst>
          </a:prstGeom>
          <a:solidFill>
            <a:srgbClr val="0B1D2A"/>
          </a:solidFill>
          <a:ln w="6350">
            <a:solidFill>
              <a:srgbClr val="0B1D2A"/>
            </a:solidFill>
            <a:prstDash val="solid"/>
          </a:ln>
        </p:spPr>
      </p:sp>
      <p:sp>
        <p:nvSpPr>
          <p:cNvPr id="20" name="Text 18"/>
          <p:cNvSpPr txBox="1"/>
          <p:nvPr/>
        </p:nvSpPr>
        <p:spPr>
          <a:xfrm>
            <a:off x="7635240" y="1600200"/>
            <a:ext cx="914400" cy="914400"/>
          </a:xfrm>
          <a:prstGeom prst="rect">
            <a:avLst/>
          </a:prstGeom>
          <a:noFill/>
          <a:ln/>
        </p:spPr>
        <p:txBody>
          <a:bodyPr wrap="square" lIns="0" tIns="0" rIns="0" bIns="0" rtlCol="0" anchor="t"/>
          <a:lstStyle/>
          <a:p>
            <a:pPr indent="0" marL="0">
              <a:buNone/>
            </a:pPr>
            <a:r>
              <a:rPr lang="en-US" sz="7200" dirty="0">
                <a:solidFill>
                  <a:srgbClr val="F2A541"/>
                </a:solidFill>
                <a:latin typeface="Cambria" pitchFamily="34" charset="0"/>
                <a:ea typeface="Cambria" pitchFamily="34" charset="-122"/>
                <a:cs typeface="Cambria" pitchFamily="34" charset="-120"/>
              </a:rPr>
              <a:t>“</a:t>
            </a:r>
            <a:endParaRPr lang="en-US" sz="7200" dirty="0"/>
          </a:p>
        </p:txBody>
      </p:sp>
      <p:sp>
        <p:nvSpPr>
          <p:cNvPr id="21" name="Text 19"/>
          <p:cNvSpPr txBox="1"/>
          <p:nvPr/>
        </p:nvSpPr>
        <p:spPr>
          <a:xfrm>
            <a:off x="7680960" y="2468880"/>
            <a:ext cx="3657600" cy="2011680"/>
          </a:xfrm>
          <a:prstGeom prst="rect">
            <a:avLst/>
          </a:prstGeom>
          <a:noFill/>
          <a:ln/>
        </p:spPr>
        <p:txBody>
          <a:bodyPr wrap="square" lIns="0" tIns="0" rIns="0" bIns="0" rtlCol="0" anchor="t"/>
          <a:lstStyle/>
          <a:p>
            <a:pPr indent="0" marL="0">
              <a:buNone/>
            </a:pPr>
            <a:r>
              <a:rPr lang="en-US" sz="2100" i="1" dirty="0">
                <a:solidFill>
                  <a:srgbClr val="FFFFFF"/>
                </a:solidFill>
                <a:latin typeface="Cambria" pitchFamily="34" charset="0"/>
                <a:ea typeface="Cambria" pitchFamily="34" charset="-122"/>
                <a:cs typeface="Cambria" pitchFamily="34" charset="-120"/>
              </a:rPr>
              <a:t>The mental map one developer builds is never written down — so the next person rebuilds it from scratch.</a:t>
            </a:r>
            <a:endParaRPr lang="en-US" sz="2100" dirty="0"/>
          </a:p>
        </p:txBody>
      </p:sp>
      <p:sp>
        <p:nvSpPr>
          <p:cNvPr id="22" name="Text 20"/>
          <p:cNvSpPr txBox="1"/>
          <p:nvPr/>
        </p:nvSpPr>
        <p:spPr>
          <a:xfrm>
            <a:off x="7680960" y="4663440"/>
            <a:ext cx="3657600" cy="731520"/>
          </a:xfrm>
          <a:prstGeom prst="rect">
            <a:avLst/>
          </a:prstGeom>
          <a:noFill/>
          <a:ln/>
        </p:spPr>
        <p:txBody>
          <a:bodyPr wrap="square" lIns="0" tIns="0" rIns="0" bIns="0" rtlCol="0" anchor="t"/>
          <a:lstStyle/>
          <a:p>
            <a:pPr indent="0" marL="0">
              <a:buNone/>
            </a:pPr>
            <a:r>
              <a:rPr lang="en-US" sz="1300" dirty="0">
                <a:solidFill>
                  <a:srgbClr val="C9D6E0"/>
                </a:solidFill>
                <a:latin typeface="Calibri" pitchFamily="34" charset="0"/>
                <a:ea typeface="Calibri" pitchFamily="34" charset="-122"/>
                <a:cs typeface="Calibri" pitchFamily="34" charset="-120"/>
              </a:rPr>
              <a:t>Tools today: grep, the file tree, and whoever is free to answer questions.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9144000" cy="274320"/>
          </a:xfrm>
          <a:prstGeom prst="rect">
            <a:avLst/>
          </a:prstGeom>
          <a:noFill/>
          <a:ln/>
        </p:spPr>
        <p:txBody>
          <a:bodyPr wrap="square" lIns="0" tIns="0" rIns="0" bIns="0" rtlCol="0" anchor="t"/>
          <a:lstStyle/>
          <a:p>
            <a:pPr indent="0" marL="0">
              <a:buNone/>
            </a:pPr>
            <a:r>
              <a:rPr lang="en-US" sz="1100" b="1" spc="300" kern="0" dirty="0">
                <a:solidFill>
                  <a:srgbClr val="0E9F8E"/>
                </a:solidFill>
                <a:latin typeface="Calibri" pitchFamily="34" charset="0"/>
                <a:ea typeface="Calibri" pitchFamily="34" charset="-122"/>
                <a:cs typeface="Calibri" pitchFamily="34" charset="-120"/>
              </a:rPr>
              <a:t>WHY THE OBVIOUS FIX FALLS SHORT</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13212E"/>
                </a:solidFill>
                <a:latin typeface="Cambria" pitchFamily="34" charset="0"/>
                <a:ea typeface="Cambria" pitchFamily="34" charset="-122"/>
                <a:cs typeface="Cambria" pitchFamily="34" charset="-120"/>
              </a:rPr>
              <a:t>Pasting the repo into a chat assistant</a:t>
            </a:r>
            <a:endParaRPr lang="en-US" sz="3400" dirty="0"/>
          </a:p>
        </p:txBody>
      </p:sp>
      <p:sp>
        <p:nvSpPr>
          <p:cNvPr id="4" name="Shape 2"/>
          <p:cNvSpPr/>
          <p:nvPr/>
        </p:nvSpPr>
        <p:spPr>
          <a:xfrm>
            <a:off x="548640" y="1417320"/>
            <a:ext cx="5394960" cy="548640"/>
          </a:xfrm>
          <a:prstGeom prst="roundRect">
            <a:avLst>
              <a:gd name="adj" fmla="val 20000"/>
            </a:avLst>
          </a:prstGeom>
          <a:solidFill>
            <a:srgbClr val="F8E3DE"/>
          </a:solidFill>
          <a:ln w="6350">
            <a:solidFill>
              <a:srgbClr val="F8E3DE"/>
            </a:solidFill>
            <a:prstDash val="solid"/>
          </a:ln>
        </p:spPr>
      </p:sp>
      <p:sp>
        <p:nvSpPr>
          <p:cNvPr id="5" name="Shape 3"/>
          <p:cNvSpPr/>
          <p:nvPr/>
        </p:nvSpPr>
        <p:spPr>
          <a:xfrm>
            <a:off x="6263640" y="1417320"/>
            <a:ext cx="5394960" cy="548640"/>
          </a:xfrm>
          <a:prstGeom prst="roundRect">
            <a:avLst>
              <a:gd name="adj" fmla="val 20000"/>
            </a:avLst>
          </a:prstGeom>
          <a:solidFill>
            <a:srgbClr val="CFEFEA"/>
          </a:solidFill>
          <a:ln w="6350">
            <a:solidFill>
              <a:srgbClr val="CFEFEA"/>
            </a:solidFill>
            <a:prstDash val="solid"/>
          </a:ln>
        </p:spPr>
      </p:sp>
      <p:sp>
        <p:nvSpPr>
          <p:cNvPr id="6" name="Text 4"/>
          <p:cNvSpPr txBox="1"/>
          <p:nvPr/>
        </p:nvSpPr>
        <p:spPr>
          <a:xfrm>
            <a:off x="822960" y="1527048"/>
            <a:ext cx="4937760" cy="365760"/>
          </a:xfrm>
          <a:prstGeom prst="rect">
            <a:avLst/>
          </a:prstGeom>
          <a:noFill/>
          <a:ln/>
        </p:spPr>
        <p:txBody>
          <a:bodyPr wrap="square" lIns="0" tIns="0" rIns="0" bIns="0" rtlCol="0" anchor="t"/>
          <a:lstStyle/>
          <a:p>
            <a:pPr indent="0" marL="0">
              <a:buNone/>
            </a:pPr>
            <a:r>
              <a:rPr lang="en-US" sz="1700" b="1" dirty="0">
                <a:solidFill>
                  <a:srgbClr val="C8553D"/>
                </a:solidFill>
                <a:latin typeface="Calibri" pitchFamily="34" charset="0"/>
                <a:ea typeface="Calibri" pitchFamily="34" charset="-122"/>
                <a:cs typeface="Calibri" pitchFamily="34" charset="-120"/>
              </a:rPr>
              <a:t>Chat over raw files</a:t>
            </a:r>
            <a:endParaRPr lang="en-US" sz="1700" dirty="0"/>
          </a:p>
        </p:txBody>
      </p:sp>
      <p:sp>
        <p:nvSpPr>
          <p:cNvPr id="7" name="Text 5"/>
          <p:cNvSpPr txBox="1"/>
          <p:nvPr/>
        </p:nvSpPr>
        <p:spPr>
          <a:xfrm>
            <a:off x="6537960" y="1527048"/>
            <a:ext cx="4937760" cy="365760"/>
          </a:xfrm>
          <a:prstGeom prst="rect">
            <a:avLst/>
          </a:prstGeom>
          <a:noFill/>
          <a:ln/>
        </p:spPr>
        <p:txBody>
          <a:bodyPr wrap="square" lIns="0" tIns="0" rIns="0" bIns="0" rtlCol="0" anchor="t"/>
          <a:lstStyle/>
          <a:p>
            <a:pPr indent="0" marL="0">
              <a:buNone/>
            </a:pPr>
            <a:r>
              <a:rPr lang="en-US" sz="1700" b="1" dirty="0">
                <a:solidFill>
                  <a:srgbClr val="0E9F8E"/>
                </a:solidFill>
                <a:latin typeface="Calibri" pitchFamily="34" charset="0"/>
                <a:ea typeface="Calibri" pitchFamily="34" charset="-122"/>
                <a:cs typeface="Calibri" pitchFamily="34" charset="-120"/>
              </a:rPr>
              <a:t>Cartograph</a:t>
            </a:r>
            <a:endParaRPr lang="en-US" sz="1700" dirty="0"/>
          </a:p>
        </p:txBody>
      </p:sp>
      <p:sp>
        <p:nvSpPr>
          <p:cNvPr id="8" name="Shape 6"/>
          <p:cNvSpPr/>
          <p:nvPr/>
        </p:nvSpPr>
        <p:spPr>
          <a:xfrm>
            <a:off x="548640" y="2240280"/>
            <a:ext cx="5394960" cy="777240"/>
          </a:xfrm>
          <a:prstGeom prst="roundRect">
            <a:avLst>
              <a:gd name="adj" fmla="val 14118"/>
            </a:avLst>
          </a:prstGeom>
          <a:solidFill>
            <a:srgbClr val="EEF3F6"/>
          </a:solidFill>
          <a:ln w="6350">
            <a:solidFill>
              <a:srgbClr val="EEF3F6"/>
            </a:solidFill>
            <a:prstDash val="solid"/>
          </a:ln>
        </p:spPr>
      </p:sp>
      <p:sp>
        <p:nvSpPr>
          <p:cNvPr id="9" name="Shape 7"/>
          <p:cNvSpPr/>
          <p:nvPr/>
        </p:nvSpPr>
        <p:spPr>
          <a:xfrm>
            <a:off x="6263640" y="2240280"/>
            <a:ext cx="5394960" cy="777240"/>
          </a:xfrm>
          <a:prstGeom prst="roundRect">
            <a:avLst>
              <a:gd name="adj" fmla="val 14118"/>
            </a:avLst>
          </a:prstGeom>
          <a:solidFill>
            <a:srgbClr val="EEF3F6"/>
          </a:solidFill>
          <a:ln w="6350">
            <a:solidFill>
              <a:srgbClr val="EEF3F6"/>
            </a:solidFill>
            <a:prstDash val="solid"/>
          </a:ln>
        </p:spPr>
      </p:sp>
      <p:sp>
        <p:nvSpPr>
          <p:cNvPr id="10" name="Shape 8"/>
          <p:cNvSpPr/>
          <p:nvPr/>
        </p:nvSpPr>
        <p:spPr>
          <a:xfrm>
            <a:off x="768096" y="2436876"/>
            <a:ext cx="384048" cy="384048"/>
          </a:xfrm>
          <a:prstGeom prst="ellipse">
            <a:avLst/>
          </a:prstGeom>
          <a:solidFill>
            <a:srgbClr val="C8553D"/>
          </a:solidFill>
          <a:ln w="6350">
            <a:solidFill>
              <a:srgbClr val="C8553D"/>
            </a:solidFill>
            <a:prstDash val="solid"/>
          </a:ln>
        </p:spPr>
      </p:sp>
      <p:sp>
        <p:nvSpPr>
          <p:cNvPr id="11" name="Text 9"/>
          <p:cNvSpPr txBox="1"/>
          <p:nvPr/>
        </p:nvSpPr>
        <p:spPr>
          <a:xfrm>
            <a:off x="493776" y="2464308"/>
            <a:ext cx="93268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2" name="Shape 10"/>
          <p:cNvSpPr/>
          <p:nvPr/>
        </p:nvSpPr>
        <p:spPr>
          <a:xfrm>
            <a:off x="6483096" y="2436876"/>
            <a:ext cx="384048" cy="384048"/>
          </a:xfrm>
          <a:prstGeom prst="ellipse">
            <a:avLst/>
          </a:prstGeom>
          <a:solidFill>
            <a:srgbClr val="0E9F8E"/>
          </a:solidFill>
          <a:ln w="6350">
            <a:solidFill>
              <a:srgbClr val="0E9F8E"/>
            </a:solidFill>
            <a:prstDash val="solid"/>
          </a:ln>
        </p:spPr>
      </p:sp>
      <p:sp>
        <p:nvSpPr>
          <p:cNvPr id="13" name="Text 11"/>
          <p:cNvSpPr txBox="1"/>
          <p:nvPr/>
        </p:nvSpPr>
        <p:spPr>
          <a:xfrm>
            <a:off x="6208776" y="2464308"/>
            <a:ext cx="93268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4" name="Text 12"/>
          <p:cNvSpPr txBox="1"/>
          <p:nvPr/>
        </p:nvSpPr>
        <p:spPr>
          <a:xfrm>
            <a:off x="1371600" y="2350008"/>
            <a:ext cx="4434840" cy="566928"/>
          </a:xfrm>
          <a:prstGeom prst="rect">
            <a:avLst/>
          </a:prstGeom>
          <a:noFill/>
          <a:ln/>
        </p:spPr>
        <p:txBody>
          <a:bodyPr wrap="square" lIns="0" tIns="0" rIns="0" bIns="0" rtlCol="0" anchor="ctr"/>
          <a:lstStyle/>
          <a:p>
            <a:pPr indent="0" marL="0">
              <a:buNone/>
            </a:pPr>
            <a:r>
              <a:rPr lang="en-US" sz="1500" dirty="0">
                <a:solidFill>
                  <a:srgbClr val="13212E"/>
                </a:solidFill>
                <a:latin typeface="Calibri" pitchFamily="34" charset="0"/>
                <a:ea typeface="Calibri" pitchFamily="34" charset="-122"/>
                <a:cs typeface="Calibri" pitchFamily="34" charset="-120"/>
              </a:rPr>
              <a:t>Re-reads raw files for every question</a:t>
            </a:r>
            <a:endParaRPr lang="en-US" sz="1500" dirty="0"/>
          </a:p>
        </p:txBody>
      </p:sp>
      <p:sp>
        <p:nvSpPr>
          <p:cNvPr id="15" name="Text 13"/>
          <p:cNvSpPr txBox="1"/>
          <p:nvPr/>
        </p:nvSpPr>
        <p:spPr>
          <a:xfrm>
            <a:off x="7086600" y="2350008"/>
            <a:ext cx="4434840" cy="566928"/>
          </a:xfrm>
          <a:prstGeom prst="rect">
            <a:avLst/>
          </a:prstGeom>
          <a:noFill/>
          <a:ln/>
        </p:spPr>
        <p:txBody>
          <a:bodyPr wrap="square" lIns="0" tIns="0" rIns="0" bIns="0" rtlCol="0" anchor="ctr"/>
          <a:lstStyle/>
          <a:p>
            <a:pPr indent="0" marL="0">
              <a:buNone/>
            </a:pPr>
            <a:r>
              <a:rPr lang="en-US" sz="1500" b="1" dirty="0">
                <a:solidFill>
                  <a:srgbClr val="13212E"/>
                </a:solidFill>
                <a:latin typeface="Calibri" pitchFamily="34" charset="0"/>
                <a:ea typeface="Calibri" pitchFamily="34" charset="-122"/>
                <a:cs typeface="Calibri" pitchFamily="34" charset="-120"/>
              </a:rPr>
              <a:t>Reads the repo once; answers come from the graph</a:t>
            </a:r>
            <a:endParaRPr lang="en-US" sz="1500" dirty="0"/>
          </a:p>
        </p:txBody>
      </p:sp>
      <p:sp>
        <p:nvSpPr>
          <p:cNvPr id="16" name="Shape 14"/>
          <p:cNvSpPr/>
          <p:nvPr/>
        </p:nvSpPr>
        <p:spPr>
          <a:xfrm>
            <a:off x="548640" y="3172968"/>
            <a:ext cx="5394960" cy="777240"/>
          </a:xfrm>
          <a:prstGeom prst="roundRect">
            <a:avLst>
              <a:gd name="adj" fmla="val 14118"/>
            </a:avLst>
          </a:prstGeom>
          <a:solidFill>
            <a:srgbClr val="EEF3F6"/>
          </a:solidFill>
          <a:ln w="6350">
            <a:solidFill>
              <a:srgbClr val="EEF3F6"/>
            </a:solidFill>
            <a:prstDash val="solid"/>
          </a:ln>
        </p:spPr>
      </p:sp>
      <p:sp>
        <p:nvSpPr>
          <p:cNvPr id="17" name="Shape 15"/>
          <p:cNvSpPr/>
          <p:nvPr/>
        </p:nvSpPr>
        <p:spPr>
          <a:xfrm>
            <a:off x="6263640" y="3172968"/>
            <a:ext cx="5394960" cy="777240"/>
          </a:xfrm>
          <a:prstGeom prst="roundRect">
            <a:avLst>
              <a:gd name="adj" fmla="val 14118"/>
            </a:avLst>
          </a:prstGeom>
          <a:solidFill>
            <a:srgbClr val="EEF3F6"/>
          </a:solidFill>
          <a:ln w="6350">
            <a:solidFill>
              <a:srgbClr val="EEF3F6"/>
            </a:solidFill>
            <a:prstDash val="solid"/>
          </a:ln>
        </p:spPr>
      </p:sp>
      <p:sp>
        <p:nvSpPr>
          <p:cNvPr id="18" name="Shape 16"/>
          <p:cNvSpPr/>
          <p:nvPr/>
        </p:nvSpPr>
        <p:spPr>
          <a:xfrm>
            <a:off x="768096" y="3369564"/>
            <a:ext cx="384048" cy="384048"/>
          </a:xfrm>
          <a:prstGeom prst="ellipse">
            <a:avLst/>
          </a:prstGeom>
          <a:solidFill>
            <a:srgbClr val="C8553D"/>
          </a:solidFill>
          <a:ln w="6350">
            <a:solidFill>
              <a:srgbClr val="C8553D"/>
            </a:solidFill>
            <a:prstDash val="solid"/>
          </a:ln>
        </p:spPr>
      </p:sp>
      <p:sp>
        <p:nvSpPr>
          <p:cNvPr id="19" name="Text 17"/>
          <p:cNvSpPr txBox="1"/>
          <p:nvPr/>
        </p:nvSpPr>
        <p:spPr>
          <a:xfrm>
            <a:off x="493776" y="3396996"/>
            <a:ext cx="93268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483096" y="3369564"/>
            <a:ext cx="384048" cy="384048"/>
          </a:xfrm>
          <a:prstGeom prst="ellipse">
            <a:avLst/>
          </a:prstGeom>
          <a:solidFill>
            <a:srgbClr val="0E9F8E"/>
          </a:solidFill>
          <a:ln w="6350">
            <a:solidFill>
              <a:srgbClr val="0E9F8E"/>
            </a:solidFill>
            <a:prstDash val="solid"/>
          </a:ln>
        </p:spPr>
      </p:sp>
      <p:sp>
        <p:nvSpPr>
          <p:cNvPr id="21" name="Text 19"/>
          <p:cNvSpPr txBox="1"/>
          <p:nvPr/>
        </p:nvSpPr>
        <p:spPr>
          <a:xfrm>
            <a:off x="6208776" y="3396996"/>
            <a:ext cx="93268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txBox="1"/>
          <p:nvPr/>
        </p:nvSpPr>
        <p:spPr>
          <a:xfrm>
            <a:off x="1371600" y="3282696"/>
            <a:ext cx="4434840" cy="566928"/>
          </a:xfrm>
          <a:prstGeom prst="rect">
            <a:avLst/>
          </a:prstGeom>
          <a:noFill/>
          <a:ln/>
        </p:spPr>
        <p:txBody>
          <a:bodyPr wrap="square" lIns="0" tIns="0" rIns="0" bIns="0" rtlCol="0" anchor="ctr"/>
          <a:lstStyle/>
          <a:p>
            <a:pPr indent="0" marL="0">
              <a:buNone/>
            </a:pPr>
            <a:r>
              <a:rPr lang="en-US" sz="1500" dirty="0">
                <a:solidFill>
                  <a:srgbClr val="13212E"/>
                </a:solidFill>
                <a:latin typeface="Calibri" pitchFamily="34" charset="0"/>
                <a:ea typeface="Calibri" pitchFamily="34" charset="-122"/>
                <a:cs typeface="Calibri" pitchFamily="34" charset="-120"/>
              </a:rPr>
              <a:t>Context window caps what fits</a:t>
            </a:r>
            <a:endParaRPr lang="en-US" sz="1500" dirty="0"/>
          </a:p>
        </p:txBody>
      </p:sp>
      <p:sp>
        <p:nvSpPr>
          <p:cNvPr id="23" name="Text 21"/>
          <p:cNvSpPr txBox="1"/>
          <p:nvPr/>
        </p:nvSpPr>
        <p:spPr>
          <a:xfrm>
            <a:off x="7086600" y="3282696"/>
            <a:ext cx="4434840" cy="566928"/>
          </a:xfrm>
          <a:prstGeom prst="rect">
            <a:avLst/>
          </a:prstGeom>
          <a:noFill/>
          <a:ln/>
        </p:spPr>
        <p:txBody>
          <a:bodyPr wrap="square" lIns="0" tIns="0" rIns="0" bIns="0" rtlCol="0" anchor="ctr"/>
          <a:lstStyle/>
          <a:p>
            <a:pPr indent="0" marL="0">
              <a:buNone/>
            </a:pPr>
            <a:r>
              <a:rPr lang="en-US" sz="1500" b="1" dirty="0">
                <a:solidFill>
                  <a:srgbClr val="13212E"/>
                </a:solidFill>
                <a:latin typeface="Calibri" pitchFamily="34" charset="0"/>
                <a:ea typeface="Calibri" pitchFamily="34" charset="-122"/>
                <a:cs typeface="Calibri" pitchFamily="34" charset="-120"/>
              </a:rPr>
              <a:t>Retrieves only the relevant subgraph, so large repos still work</a:t>
            </a:r>
            <a:endParaRPr lang="en-US" sz="1500" dirty="0"/>
          </a:p>
        </p:txBody>
      </p:sp>
      <p:sp>
        <p:nvSpPr>
          <p:cNvPr id="24" name="Shape 22"/>
          <p:cNvSpPr/>
          <p:nvPr/>
        </p:nvSpPr>
        <p:spPr>
          <a:xfrm>
            <a:off x="548640" y="4105656"/>
            <a:ext cx="5394960" cy="777240"/>
          </a:xfrm>
          <a:prstGeom prst="roundRect">
            <a:avLst>
              <a:gd name="adj" fmla="val 14118"/>
            </a:avLst>
          </a:prstGeom>
          <a:solidFill>
            <a:srgbClr val="EEF3F6"/>
          </a:solidFill>
          <a:ln w="6350">
            <a:solidFill>
              <a:srgbClr val="EEF3F6"/>
            </a:solidFill>
            <a:prstDash val="solid"/>
          </a:ln>
        </p:spPr>
      </p:sp>
      <p:sp>
        <p:nvSpPr>
          <p:cNvPr id="25" name="Shape 23"/>
          <p:cNvSpPr/>
          <p:nvPr/>
        </p:nvSpPr>
        <p:spPr>
          <a:xfrm>
            <a:off x="6263640" y="4105656"/>
            <a:ext cx="5394960" cy="777240"/>
          </a:xfrm>
          <a:prstGeom prst="roundRect">
            <a:avLst>
              <a:gd name="adj" fmla="val 14118"/>
            </a:avLst>
          </a:prstGeom>
          <a:solidFill>
            <a:srgbClr val="EEF3F6"/>
          </a:solidFill>
          <a:ln w="6350">
            <a:solidFill>
              <a:srgbClr val="EEF3F6"/>
            </a:solidFill>
            <a:prstDash val="solid"/>
          </a:ln>
        </p:spPr>
      </p:sp>
      <p:sp>
        <p:nvSpPr>
          <p:cNvPr id="26" name="Shape 24"/>
          <p:cNvSpPr/>
          <p:nvPr/>
        </p:nvSpPr>
        <p:spPr>
          <a:xfrm>
            <a:off x="768096" y="4302252"/>
            <a:ext cx="384048" cy="384048"/>
          </a:xfrm>
          <a:prstGeom prst="ellipse">
            <a:avLst/>
          </a:prstGeom>
          <a:solidFill>
            <a:srgbClr val="C8553D"/>
          </a:solidFill>
          <a:ln w="6350">
            <a:solidFill>
              <a:srgbClr val="C8553D"/>
            </a:solidFill>
            <a:prstDash val="solid"/>
          </a:ln>
        </p:spPr>
      </p:sp>
      <p:sp>
        <p:nvSpPr>
          <p:cNvPr id="27" name="Text 25"/>
          <p:cNvSpPr txBox="1"/>
          <p:nvPr/>
        </p:nvSpPr>
        <p:spPr>
          <a:xfrm>
            <a:off x="493776" y="4329684"/>
            <a:ext cx="93268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8" name="Shape 26"/>
          <p:cNvSpPr/>
          <p:nvPr/>
        </p:nvSpPr>
        <p:spPr>
          <a:xfrm>
            <a:off x="6483096" y="4302252"/>
            <a:ext cx="384048" cy="384048"/>
          </a:xfrm>
          <a:prstGeom prst="ellipse">
            <a:avLst/>
          </a:prstGeom>
          <a:solidFill>
            <a:srgbClr val="0E9F8E"/>
          </a:solidFill>
          <a:ln w="6350">
            <a:solidFill>
              <a:srgbClr val="0E9F8E"/>
            </a:solidFill>
            <a:prstDash val="solid"/>
          </a:ln>
        </p:spPr>
      </p:sp>
      <p:sp>
        <p:nvSpPr>
          <p:cNvPr id="29" name="Text 27"/>
          <p:cNvSpPr txBox="1"/>
          <p:nvPr/>
        </p:nvSpPr>
        <p:spPr>
          <a:xfrm>
            <a:off x="6208776" y="4329684"/>
            <a:ext cx="93268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0" name="Text 28"/>
          <p:cNvSpPr txBox="1"/>
          <p:nvPr/>
        </p:nvSpPr>
        <p:spPr>
          <a:xfrm>
            <a:off x="1371600" y="4215384"/>
            <a:ext cx="4434840" cy="566928"/>
          </a:xfrm>
          <a:prstGeom prst="rect">
            <a:avLst/>
          </a:prstGeom>
          <a:noFill/>
          <a:ln/>
        </p:spPr>
        <p:txBody>
          <a:bodyPr wrap="square" lIns="0" tIns="0" rIns="0" bIns="0" rtlCol="0" anchor="ctr"/>
          <a:lstStyle/>
          <a:p>
            <a:pPr indent="0" marL="0">
              <a:buNone/>
            </a:pPr>
            <a:r>
              <a:rPr lang="en-US" sz="1500" dirty="0">
                <a:solidFill>
                  <a:srgbClr val="13212E"/>
                </a:solidFill>
                <a:latin typeface="Calibri" pitchFamily="34" charset="0"/>
                <a:ea typeface="Calibri" pitchFamily="34" charset="-122"/>
                <a:cs typeface="Calibri" pitchFamily="34" charset="-120"/>
              </a:rPr>
              <a:t>Fluent answer, no source</a:t>
            </a:r>
            <a:endParaRPr lang="en-US" sz="1500" dirty="0"/>
          </a:p>
        </p:txBody>
      </p:sp>
      <p:sp>
        <p:nvSpPr>
          <p:cNvPr id="31" name="Text 29"/>
          <p:cNvSpPr txBox="1"/>
          <p:nvPr/>
        </p:nvSpPr>
        <p:spPr>
          <a:xfrm>
            <a:off x="7086600" y="4215384"/>
            <a:ext cx="4434840" cy="566928"/>
          </a:xfrm>
          <a:prstGeom prst="rect">
            <a:avLst/>
          </a:prstGeom>
          <a:noFill/>
          <a:ln/>
        </p:spPr>
        <p:txBody>
          <a:bodyPr wrap="square" lIns="0" tIns="0" rIns="0" bIns="0" rtlCol="0" anchor="ctr"/>
          <a:lstStyle/>
          <a:p>
            <a:pPr indent="0" marL="0">
              <a:buNone/>
            </a:pPr>
            <a:r>
              <a:rPr lang="en-US" sz="1500" b="1" dirty="0">
                <a:solidFill>
                  <a:srgbClr val="13212E"/>
                </a:solidFill>
                <a:latin typeface="Calibri" pitchFamily="34" charset="0"/>
                <a:ea typeface="Calibri" pitchFamily="34" charset="-122"/>
                <a:cs typeface="Calibri" pitchFamily="34" charset="-120"/>
              </a:rPr>
              <a:t>Every claim cites a graph node, or is flagged ungrounded</a:t>
            </a:r>
            <a:endParaRPr lang="en-US" sz="1500" dirty="0"/>
          </a:p>
        </p:txBody>
      </p:sp>
      <p:sp>
        <p:nvSpPr>
          <p:cNvPr id="32" name="Shape 30"/>
          <p:cNvSpPr/>
          <p:nvPr/>
        </p:nvSpPr>
        <p:spPr>
          <a:xfrm>
            <a:off x="548640" y="5038344"/>
            <a:ext cx="5394960" cy="777240"/>
          </a:xfrm>
          <a:prstGeom prst="roundRect">
            <a:avLst>
              <a:gd name="adj" fmla="val 14118"/>
            </a:avLst>
          </a:prstGeom>
          <a:solidFill>
            <a:srgbClr val="EEF3F6"/>
          </a:solidFill>
          <a:ln w="6350">
            <a:solidFill>
              <a:srgbClr val="EEF3F6"/>
            </a:solidFill>
            <a:prstDash val="solid"/>
          </a:ln>
        </p:spPr>
      </p:sp>
      <p:sp>
        <p:nvSpPr>
          <p:cNvPr id="33" name="Shape 31"/>
          <p:cNvSpPr/>
          <p:nvPr/>
        </p:nvSpPr>
        <p:spPr>
          <a:xfrm>
            <a:off x="6263640" y="5038344"/>
            <a:ext cx="5394960" cy="777240"/>
          </a:xfrm>
          <a:prstGeom prst="roundRect">
            <a:avLst>
              <a:gd name="adj" fmla="val 14118"/>
            </a:avLst>
          </a:prstGeom>
          <a:solidFill>
            <a:srgbClr val="EEF3F6"/>
          </a:solidFill>
          <a:ln w="6350">
            <a:solidFill>
              <a:srgbClr val="EEF3F6"/>
            </a:solidFill>
            <a:prstDash val="solid"/>
          </a:ln>
        </p:spPr>
      </p:sp>
      <p:sp>
        <p:nvSpPr>
          <p:cNvPr id="34" name="Shape 32"/>
          <p:cNvSpPr/>
          <p:nvPr/>
        </p:nvSpPr>
        <p:spPr>
          <a:xfrm>
            <a:off x="768096" y="5234940"/>
            <a:ext cx="384048" cy="384048"/>
          </a:xfrm>
          <a:prstGeom prst="ellipse">
            <a:avLst/>
          </a:prstGeom>
          <a:solidFill>
            <a:srgbClr val="C8553D"/>
          </a:solidFill>
          <a:ln w="6350">
            <a:solidFill>
              <a:srgbClr val="C8553D"/>
            </a:solidFill>
            <a:prstDash val="solid"/>
          </a:ln>
        </p:spPr>
      </p:sp>
      <p:sp>
        <p:nvSpPr>
          <p:cNvPr id="35" name="Text 33"/>
          <p:cNvSpPr txBox="1"/>
          <p:nvPr/>
        </p:nvSpPr>
        <p:spPr>
          <a:xfrm>
            <a:off x="493776" y="5262372"/>
            <a:ext cx="93268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6483096" y="5234940"/>
            <a:ext cx="384048" cy="384048"/>
          </a:xfrm>
          <a:prstGeom prst="ellipse">
            <a:avLst/>
          </a:prstGeom>
          <a:solidFill>
            <a:srgbClr val="0E9F8E"/>
          </a:solidFill>
          <a:ln w="6350">
            <a:solidFill>
              <a:srgbClr val="0E9F8E"/>
            </a:solidFill>
            <a:prstDash val="solid"/>
          </a:ln>
        </p:spPr>
      </p:sp>
      <p:sp>
        <p:nvSpPr>
          <p:cNvPr id="37" name="Text 35"/>
          <p:cNvSpPr txBox="1"/>
          <p:nvPr/>
        </p:nvSpPr>
        <p:spPr>
          <a:xfrm>
            <a:off x="6208776" y="5262372"/>
            <a:ext cx="93268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8" name="Text 36"/>
          <p:cNvSpPr txBox="1"/>
          <p:nvPr/>
        </p:nvSpPr>
        <p:spPr>
          <a:xfrm>
            <a:off x="1371600" y="5148072"/>
            <a:ext cx="4434840" cy="566928"/>
          </a:xfrm>
          <a:prstGeom prst="rect">
            <a:avLst/>
          </a:prstGeom>
          <a:noFill/>
          <a:ln/>
        </p:spPr>
        <p:txBody>
          <a:bodyPr wrap="square" lIns="0" tIns="0" rIns="0" bIns="0" rtlCol="0" anchor="ctr"/>
          <a:lstStyle/>
          <a:p>
            <a:pPr indent="0" marL="0">
              <a:buNone/>
            </a:pPr>
            <a:r>
              <a:rPr lang="en-US" sz="1500" dirty="0">
                <a:solidFill>
                  <a:srgbClr val="13212E"/>
                </a:solidFill>
                <a:latin typeface="Calibri" pitchFamily="34" charset="0"/>
                <a:ea typeface="Calibri" pitchFamily="34" charset="-122"/>
                <a:cs typeface="Calibri" pitchFamily="34" charset="-120"/>
              </a:rPr>
              <a:t>The work is invisible</a:t>
            </a:r>
            <a:endParaRPr lang="en-US" sz="1500" dirty="0"/>
          </a:p>
        </p:txBody>
      </p:sp>
      <p:sp>
        <p:nvSpPr>
          <p:cNvPr id="39" name="Text 37"/>
          <p:cNvSpPr txBox="1"/>
          <p:nvPr/>
        </p:nvSpPr>
        <p:spPr>
          <a:xfrm>
            <a:off x="7086600" y="5148072"/>
            <a:ext cx="4434840" cy="566928"/>
          </a:xfrm>
          <a:prstGeom prst="rect">
            <a:avLst/>
          </a:prstGeom>
          <a:noFill/>
          <a:ln/>
        </p:spPr>
        <p:txBody>
          <a:bodyPr wrap="square" lIns="0" tIns="0" rIns="0" bIns="0" rtlCol="0" anchor="ctr"/>
          <a:lstStyle/>
          <a:p>
            <a:pPr indent="0" marL="0">
              <a:buNone/>
            </a:pPr>
            <a:r>
              <a:rPr lang="en-US" sz="1500" b="1" dirty="0">
                <a:solidFill>
                  <a:srgbClr val="13212E"/>
                </a:solidFill>
                <a:latin typeface="Calibri" pitchFamily="34" charset="0"/>
                <a:ea typeface="Calibri" pitchFamily="34" charset="-122"/>
                <a:cs typeface="Calibri" pitchFamily="34" charset="-120"/>
              </a:rPr>
              <a:t>Live trace, token spend and node/edge counts for every run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D2A"/>
        </a:solidFill>
      </p:bgPr>
    </p:bg>
    <p:spTree>
      <p:nvGrpSpPr>
        <p:cNvPr id="1" name=""/>
        <p:cNvGrpSpPr/>
        <p:nvPr/>
      </p:nvGrpSpPr>
      <p:grpSpPr>
        <a:xfrm>
          <a:off x="0" y="0"/>
          <a:ext cx="0" cy="0"/>
          <a:chOff x="0" y="0"/>
          <a:chExt cx="0" cy="0"/>
        </a:xfrm>
      </p:grpSpPr>
      <p:sp>
        <p:nvSpPr>
          <p:cNvPr id="2" name="Text 0"/>
          <p:cNvSpPr txBox="1"/>
          <p:nvPr/>
        </p:nvSpPr>
        <p:spPr>
          <a:xfrm>
            <a:off x="548640" y="182880"/>
            <a:ext cx="9144000" cy="274320"/>
          </a:xfrm>
          <a:prstGeom prst="rect">
            <a:avLst/>
          </a:prstGeom>
          <a:noFill/>
          <a:ln/>
        </p:spPr>
        <p:txBody>
          <a:bodyPr wrap="square" lIns="0" tIns="0" rIns="0" bIns="0" rtlCol="0" anchor="t"/>
          <a:lstStyle/>
          <a:p>
            <a:pPr indent="0" marL="0">
              <a:buNone/>
            </a:pPr>
            <a:r>
              <a:rPr lang="en-US" sz="1100" b="1" spc="300" kern="0" dirty="0">
                <a:solidFill>
                  <a:srgbClr val="F2A541"/>
                </a:solidFill>
                <a:latin typeface="Calibri" pitchFamily="34" charset="0"/>
                <a:ea typeface="Calibri" pitchFamily="34" charset="-122"/>
                <a:cs typeface="Calibri" pitchFamily="34" charset="-120"/>
              </a:rPr>
              <a:t>THE SOLUTION</a:t>
            </a:r>
            <a:endParaRPr lang="en-US" sz="1100" dirty="0"/>
          </a:p>
        </p:txBody>
      </p:sp>
      <p:sp>
        <p:nvSpPr>
          <p:cNvPr id="3" name="Text 1"/>
          <p:cNvSpPr txBox="1"/>
          <p:nvPr/>
        </p:nvSpPr>
        <p:spPr>
          <a:xfrm>
            <a:off x="548640" y="502920"/>
            <a:ext cx="10972800" cy="9144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Read once. Answer forever.</a:t>
            </a:r>
            <a:endParaRPr lang="en-US" sz="4400" dirty="0"/>
          </a:p>
        </p:txBody>
      </p:sp>
      <p:sp>
        <p:nvSpPr>
          <p:cNvPr id="4" name="Text 2"/>
          <p:cNvSpPr txBox="1"/>
          <p:nvPr/>
        </p:nvSpPr>
        <p:spPr>
          <a:xfrm>
            <a:off x="548640" y="1463040"/>
            <a:ext cx="10515600" cy="731520"/>
          </a:xfrm>
          <a:prstGeom prst="rect">
            <a:avLst/>
          </a:prstGeom>
          <a:noFill/>
          <a:ln/>
        </p:spPr>
        <p:txBody>
          <a:bodyPr wrap="square" lIns="0" tIns="0" rIns="0" bIns="0" rtlCol="0" anchor="t"/>
          <a:lstStyle/>
          <a:p>
            <a:pPr indent="0" marL="0">
              <a:buNone/>
            </a:pPr>
            <a:r>
              <a:rPr lang="en-US" sz="1800" dirty="0">
                <a:solidFill>
                  <a:srgbClr val="C9D6E0"/>
                </a:solidFill>
                <a:latin typeface="Calibri" pitchFamily="34" charset="0"/>
                <a:ea typeface="Calibri" pitchFamily="34" charset="-122"/>
                <a:cs typeface="Calibri" pitchFamily="34" charset="-120"/>
              </a:rPr>
              <a:t>Cartograph turns a repository into a queryable knowledge graph, then answers from the graph instead of re-reading the source.</a:t>
            </a:r>
            <a:endParaRPr lang="en-US" sz="1800" dirty="0"/>
          </a:p>
        </p:txBody>
      </p:sp>
      <p:sp>
        <p:nvSpPr>
          <p:cNvPr id="5" name="Shape 3"/>
          <p:cNvSpPr/>
          <p:nvPr/>
        </p:nvSpPr>
        <p:spPr>
          <a:xfrm>
            <a:off x="548640" y="2743200"/>
            <a:ext cx="3383280" cy="2651760"/>
          </a:xfrm>
          <a:prstGeom prst="roundRect">
            <a:avLst>
              <a:gd name="adj" fmla="val 4138"/>
            </a:avLst>
          </a:prstGeom>
          <a:solidFill>
            <a:srgbClr val="16324A"/>
          </a:solidFill>
          <a:ln w="6350">
            <a:solidFill>
              <a:srgbClr val="16324A"/>
            </a:solidFill>
            <a:prstDash val="solid"/>
          </a:ln>
        </p:spPr>
      </p:sp>
      <p:sp>
        <p:nvSpPr>
          <p:cNvPr id="6" name="Shape 4"/>
          <p:cNvSpPr/>
          <p:nvPr/>
        </p:nvSpPr>
        <p:spPr>
          <a:xfrm>
            <a:off x="822960" y="3017520"/>
            <a:ext cx="640080" cy="640080"/>
          </a:xfrm>
          <a:prstGeom prst="ellipse">
            <a:avLst/>
          </a:prstGeom>
          <a:solidFill>
            <a:srgbClr val="F2A541"/>
          </a:solidFill>
          <a:ln w="6350">
            <a:solidFill>
              <a:srgbClr val="F2A541"/>
            </a:solidFill>
            <a:prstDash val="solid"/>
          </a:ln>
        </p:spPr>
      </p:sp>
      <p:sp>
        <p:nvSpPr>
          <p:cNvPr id="7" name="Text 5"/>
          <p:cNvSpPr txBox="1"/>
          <p:nvPr/>
        </p:nvSpPr>
        <p:spPr>
          <a:xfrm>
            <a:off x="548640" y="3172968"/>
            <a:ext cx="1188720" cy="329184"/>
          </a:xfrm>
          <a:prstGeom prst="rect">
            <a:avLst/>
          </a:prstGeom>
          <a:noFill/>
          <a:ln/>
        </p:spPr>
        <p:txBody>
          <a:bodyPr wrap="square" lIns="0" tIns="0" rIns="0" bIns="0" rtlCol="0" anchor="ctr"/>
          <a:lstStyle/>
          <a:p>
            <a:pPr algn="ctr" indent="0" marL="0">
              <a:buNone/>
            </a:pPr>
            <a:r>
              <a:rPr lang="en-US" sz="1100" b="1" dirty="0">
                <a:solidFill>
                  <a:srgbClr val="0B1D2A"/>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868680" y="3840480"/>
            <a:ext cx="2834640" cy="45720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Source</a:t>
            </a:r>
            <a:endParaRPr lang="en-US" sz="2200" dirty="0"/>
          </a:p>
        </p:txBody>
      </p:sp>
      <p:sp>
        <p:nvSpPr>
          <p:cNvPr id="9" name="Text 7"/>
          <p:cNvSpPr txBox="1"/>
          <p:nvPr/>
        </p:nvSpPr>
        <p:spPr>
          <a:xfrm>
            <a:off x="868680" y="4343400"/>
            <a:ext cx="2834640" cy="914400"/>
          </a:xfrm>
          <a:prstGeom prst="rect">
            <a:avLst/>
          </a:prstGeom>
          <a:noFill/>
          <a:ln/>
        </p:spPr>
        <p:txBody>
          <a:bodyPr wrap="square" lIns="0" tIns="0" rIns="0" bIns="0" rtlCol="0" anchor="t"/>
          <a:lstStyle/>
          <a:p>
            <a:pPr indent="0" marL="0">
              <a:buNone/>
            </a:pPr>
            <a:r>
              <a:rPr lang="en-US" sz="1400" dirty="0">
                <a:solidFill>
                  <a:srgbClr val="C9D6E0"/>
                </a:solidFill>
                <a:latin typeface="Calibri" pitchFamily="34" charset="0"/>
                <a:ea typeface="Calibri" pitchFamily="34" charset="-122"/>
                <a:cs typeface="Calibri" pitchFamily="34" charset="-120"/>
              </a:rPr>
              <a:t>Public Git URL or an uploaded .zip</a:t>
            </a:r>
            <a:endParaRPr lang="en-US" sz="1400" dirty="0"/>
          </a:p>
        </p:txBody>
      </p:sp>
      <p:sp>
        <p:nvSpPr>
          <p:cNvPr id="10" name="Shape 8"/>
          <p:cNvSpPr/>
          <p:nvPr/>
        </p:nvSpPr>
        <p:spPr>
          <a:xfrm>
            <a:off x="3977640" y="4069080"/>
            <a:ext cx="365760" cy="0"/>
          </a:xfrm>
          <a:prstGeom prst="line">
            <a:avLst/>
          </a:prstGeom>
          <a:noFill/>
          <a:ln w="31750">
            <a:solidFill>
              <a:srgbClr val="F2A541"/>
            </a:solidFill>
            <a:prstDash val="solid"/>
            <a:tailEnd type="triangle"/>
          </a:ln>
        </p:spPr>
      </p:sp>
      <p:sp>
        <p:nvSpPr>
          <p:cNvPr id="11" name="Shape 9"/>
          <p:cNvSpPr/>
          <p:nvPr/>
        </p:nvSpPr>
        <p:spPr>
          <a:xfrm>
            <a:off x="4389120" y="2743200"/>
            <a:ext cx="3383280" cy="2651760"/>
          </a:xfrm>
          <a:prstGeom prst="roundRect">
            <a:avLst>
              <a:gd name="adj" fmla="val 4138"/>
            </a:avLst>
          </a:prstGeom>
          <a:solidFill>
            <a:srgbClr val="0E9F8E"/>
          </a:solidFill>
          <a:ln w="6350">
            <a:solidFill>
              <a:srgbClr val="0E9F8E"/>
            </a:solidFill>
            <a:prstDash val="solid"/>
          </a:ln>
        </p:spPr>
      </p:sp>
      <p:sp>
        <p:nvSpPr>
          <p:cNvPr id="12" name="Shape 10"/>
          <p:cNvSpPr/>
          <p:nvPr/>
        </p:nvSpPr>
        <p:spPr>
          <a:xfrm>
            <a:off x="4663440" y="3017520"/>
            <a:ext cx="640080" cy="640080"/>
          </a:xfrm>
          <a:prstGeom prst="ellipse">
            <a:avLst/>
          </a:prstGeom>
          <a:solidFill>
            <a:srgbClr val="F2A541"/>
          </a:solidFill>
          <a:ln w="6350">
            <a:solidFill>
              <a:srgbClr val="F2A541"/>
            </a:solidFill>
            <a:prstDash val="solid"/>
          </a:ln>
        </p:spPr>
      </p:sp>
      <p:sp>
        <p:nvSpPr>
          <p:cNvPr id="13" name="Text 11"/>
          <p:cNvSpPr txBox="1"/>
          <p:nvPr/>
        </p:nvSpPr>
        <p:spPr>
          <a:xfrm>
            <a:off x="4389120" y="3172968"/>
            <a:ext cx="1188720" cy="329184"/>
          </a:xfrm>
          <a:prstGeom prst="rect">
            <a:avLst/>
          </a:prstGeom>
          <a:noFill/>
          <a:ln/>
        </p:spPr>
        <p:txBody>
          <a:bodyPr wrap="square" lIns="0" tIns="0" rIns="0" bIns="0" rtlCol="0" anchor="ctr"/>
          <a:lstStyle/>
          <a:p>
            <a:pPr algn="ctr" indent="0" marL="0">
              <a:buNone/>
            </a:pPr>
            <a:r>
              <a:rPr lang="en-US" sz="1100" b="1" dirty="0">
                <a:solidFill>
                  <a:srgbClr val="0B1D2A"/>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4709160" y="3840480"/>
            <a:ext cx="2834640" cy="45720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Knowledge graph</a:t>
            </a:r>
            <a:endParaRPr lang="en-US" sz="2200" dirty="0"/>
          </a:p>
        </p:txBody>
      </p:sp>
      <p:sp>
        <p:nvSpPr>
          <p:cNvPr id="15" name="Text 13"/>
          <p:cNvSpPr txBox="1"/>
          <p:nvPr/>
        </p:nvSpPr>
        <p:spPr>
          <a:xfrm>
            <a:off x="4709160" y="4343400"/>
            <a:ext cx="2834640" cy="9144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Typed nodes and relationships across every file, linked into one connected graph</a:t>
            </a:r>
            <a:endParaRPr lang="en-US" sz="1400" dirty="0"/>
          </a:p>
        </p:txBody>
      </p:sp>
      <p:sp>
        <p:nvSpPr>
          <p:cNvPr id="16" name="Shape 14"/>
          <p:cNvSpPr/>
          <p:nvPr/>
        </p:nvSpPr>
        <p:spPr>
          <a:xfrm>
            <a:off x="7818120" y="4069080"/>
            <a:ext cx="365760" cy="0"/>
          </a:xfrm>
          <a:prstGeom prst="line">
            <a:avLst/>
          </a:prstGeom>
          <a:noFill/>
          <a:ln w="31750">
            <a:solidFill>
              <a:srgbClr val="F2A541"/>
            </a:solidFill>
            <a:prstDash val="solid"/>
            <a:tailEnd type="triangle"/>
          </a:ln>
        </p:spPr>
      </p:sp>
      <p:sp>
        <p:nvSpPr>
          <p:cNvPr id="17" name="Shape 15"/>
          <p:cNvSpPr/>
          <p:nvPr/>
        </p:nvSpPr>
        <p:spPr>
          <a:xfrm>
            <a:off x="8229600" y="2743200"/>
            <a:ext cx="3383280" cy="2651760"/>
          </a:xfrm>
          <a:prstGeom prst="roundRect">
            <a:avLst>
              <a:gd name="adj" fmla="val 4138"/>
            </a:avLst>
          </a:prstGeom>
          <a:solidFill>
            <a:srgbClr val="16324A"/>
          </a:solidFill>
          <a:ln w="6350">
            <a:solidFill>
              <a:srgbClr val="16324A"/>
            </a:solidFill>
            <a:prstDash val="solid"/>
          </a:ln>
        </p:spPr>
      </p:sp>
      <p:sp>
        <p:nvSpPr>
          <p:cNvPr id="18" name="Shape 16"/>
          <p:cNvSpPr/>
          <p:nvPr/>
        </p:nvSpPr>
        <p:spPr>
          <a:xfrm>
            <a:off x="8503920" y="3017520"/>
            <a:ext cx="640080" cy="640080"/>
          </a:xfrm>
          <a:prstGeom prst="ellipse">
            <a:avLst/>
          </a:prstGeom>
          <a:solidFill>
            <a:srgbClr val="F2A541"/>
          </a:solidFill>
          <a:ln w="6350">
            <a:solidFill>
              <a:srgbClr val="F2A541"/>
            </a:solidFill>
            <a:prstDash val="solid"/>
          </a:ln>
        </p:spPr>
      </p:sp>
      <p:sp>
        <p:nvSpPr>
          <p:cNvPr id="19" name="Text 17"/>
          <p:cNvSpPr txBox="1"/>
          <p:nvPr/>
        </p:nvSpPr>
        <p:spPr>
          <a:xfrm>
            <a:off x="8229600" y="3172968"/>
            <a:ext cx="1188720" cy="329184"/>
          </a:xfrm>
          <a:prstGeom prst="rect">
            <a:avLst/>
          </a:prstGeom>
          <a:noFill/>
          <a:ln/>
        </p:spPr>
        <p:txBody>
          <a:bodyPr wrap="square" lIns="0" tIns="0" rIns="0" bIns="0" rtlCol="0" anchor="ctr"/>
          <a:lstStyle/>
          <a:p>
            <a:pPr algn="ctr" indent="0" marL="0">
              <a:buNone/>
            </a:pPr>
            <a:r>
              <a:rPr lang="en-US" sz="1100" b="1" dirty="0">
                <a:solidFill>
                  <a:srgbClr val="0B1D2A"/>
                </a:solidFill>
                <a:latin typeface="Calibri" pitchFamily="34" charset="0"/>
                <a:ea typeface="Calibri" pitchFamily="34" charset="-122"/>
                <a:cs typeface="Calibri" pitchFamily="34" charset="-120"/>
              </a:rPr>
              <a:t>3</a:t>
            </a:r>
            <a:endParaRPr lang="en-US" sz="1100" dirty="0"/>
          </a:p>
        </p:txBody>
      </p:sp>
      <p:sp>
        <p:nvSpPr>
          <p:cNvPr id="20" name="Text 18"/>
          <p:cNvSpPr txBox="1"/>
          <p:nvPr/>
        </p:nvSpPr>
        <p:spPr>
          <a:xfrm>
            <a:off x="8549640" y="3840480"/>
            <a:ext cx="2834640" cy="45720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Grounded answers</a:t>
            </a:r>
            <a:endParaRPr lang="en-US" sz="2200" dirty="0"/>
          </a:p>
        </p:txBody>
      </p:sp>
      <p:sp>
        <p:nvSpPr>
          <p:cNvPr id="21" name="Text 19"/>
          <p:cNvSpPr txBox="1"/>
          <p:nvPr/>
        </p:nvSpPr>
        <p:spPr>
          <a:xfrm>
            <a:off x="8549640" y="4343400"/>
            <a:ext cx="2834640" cy="914400"/>
          </a:xfrm>
          <a:prstGeom prst="rect">
            <a:avLst/>
          </a:prstGeom>
          <a:noFill/>
          <a:ln/>
        </p:spPr>
        <p:txBody>
          <a:bodyPr wrap="square" lIns="0" tIns="0" rIns="0" bIns="0" rtlCol="0" anchor="t"/>
          <a:lstStyle/>
          <a:p>
            <a:pPr indent="0" marL="0">
              <a:buNone/>
            </a:pPr>
            <a:r>
              <a:rPr lang="en-US" sz="1400" dirty="0">
                <a:solidFill>
                  <a:srgbClr val="C9D6E0"/>
                </a:solidFill>
                <a:latin typeface="Calibri" pitchFamily="34" charset="0"/>
                <a:ea typeface="Calibri" pitchFamily="34" charset="-122"/>
                <a:cs typeface="Calibri" pitchFamily="34" charset="-120"/>
              </a:rPr>
              <a:t>Natural-language answers that cite the nodes they came from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9144000" cy="274320"/>
          </a:xfrm>
          <a:prstGeom prst="rect">
            <a:avLst/>
          </a:prstGeom>
          <a:noFill/>
          <a:ln/>
        </p:spPr>
        <p:txBody>
          <a:bodyPr wrap="square" lIns="0" tIns="0" rIns="0" bIns="0" rtlCol="0" anchor="t"/>
          <a:lstStyle/>
          <a:p>
            <a:pPr indent="0" marL="0">
              <a:buNone/>
            </a:pPr>
            <a:r>
              <a:rPr lang="en-US" sz="1100" b="1" spc="300" kern="0" dirty="0">
                <a:solidFill>
                  <a:srgbClr val="0E9F8E"/>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13212E"/>
                </a:solidFill>
                <a:latin typeface="Cambria" pitchFamily="34" charset="0"/>
                <a:ea typeface="Cambria" pitchFamily="34" charset="-122"/>
                <a:cs typeface="Cambria" pitchFamily="34" charset="-120"/>
              </a:rPr>
              <a:t>Two pipelines, one graph</a:t>
            </a:r>
            <a:endParaRPr lang="en-US" sz="3400" dirty="0"/>
          </a:p>
        </p:txBody>
      </p:sp>
      <p:sp>
        <p:nvSpPr>
          <p:cNvPr id="4" name="Shape 2"/>
          <p:cNvSpPr/>
          <p:nvPr/>
        </p:nvSpPr>
        <p:spPr>
          <a:xfrm>
            <a:off x="8366760" y="566928"/>
            <a:ext cx="274320" cy="201168"/>
          </a:xfrm>
          <a:prstGeom prst="roundRect">
            <a:avLst>
              <a:gd name="adj" fmla="val 18182"/>
            </a:avLst>
          </a:prstGeom>
          <a:solidFill>
            <a:srgbClr val="0E9F8E"/>
          </a:solidFill>
          <a:ln w="12700">
            <a:solidFill>
              <a:srgbClr val="0E9F8E"/>
            </a:solidFill>
            <a:prstDash val="solid"/>
          </a:ln>
        </p:spPr>
      </p:sp>
      <p:sp>
        <p:nvSpPr>
          <p:cNvPr id="5" name="Text 3"/>
          <p:cNvSpPr txBox="1"/>
          <p:nvPr/>
        </p:nvSpPr>
        <p:spPr>
          <a:xfrm>
            <a:off x="8705088" y="548640"/>
            <a:ext cx="1097280" cy="256032"/>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LLM agent</a:t>
            </a:r>
            <a:endParaRPr lang="en-US" sz="1100" dirty="0"/>
          </a:p>
        </p:txBody>
      </p:sp>
      <p:sp>
        <p:nvSpPr>
          <p:cNvPr id="6" name="Shape 4"/>
          <p:cNvSpPr/>
          <p:nvPr/>
        </p:nvSpPr>
        <p:spPr>
          <a:xfrm>
            <a:off x="9738360" y="566928"/>
            <a:ext cx="274320" cy="201168"/>
          </a:xfrm>
          <a:prstGeom prst="roundRect">
            <a:avLst>
              <a:gd name="adj" fmla="val 18182"/>
            </a:avLst>
          </a:prstGeom>
          <a:solidFill>
            <a:srgbClr val="FFFFFF"/>
          </a:solidFill>
          <a:ln w="12700">
            <a:solidFill>
              <a:srgbClr val="5B6B7A"/>
            </a:solidFill>
            <a:prstDash val="solid"/>
          </a:ln>
        </p:spPr>
      </p:sp>
      <p:sp>
        <p:nvSpPr>
          <p:cNvPr id="7" name="Text 5"/>
          <p:cNvSpPr txBox="1"/>
          <p:nvPr/>
        </p:nvSpPr>
        <p:spPr>
          <a:xfrm>
            <a:off x="10076688" y="548640"/>
            <a:ext cx="1645920" cy="256032"/>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Deterministic Python</a:t>
            </a:r>
            <a:endParaRPr lang="en-US" sz="1100" dirty="0"/>
          </a:p>
        </p:txBody>
      </p:sp>
      <p:sp>
        <p:nvSpPr>
          <p:cNvPr id="8" name="Text 6"/>
          <p:cNvSpPr txBox="1"/>
          <p:nvPr/>
        </p:nvSpPr>
        <p:spPr>
          <a:xfrm>
            <a:off x="548640" y="1234440"/>
            <a:ext cx="5486400"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ANALYSE  ·  once per repository</a:t>
            </a:r>
            <a:endParaRPr lang="en-US" sz="1100" dirty="0"/>
          </a:p>
        </p:txBody>
      </p:sp>
      <p:sp>
        <p:nvSpPr>
          <p:cNvPr id="9" name="Shape 7"/>
          <p:cNvSpPr/>
          <p:nvPr/>
        </p:nvSpPr>
        <p:spPr>
          <a:xfrm>
            <a:off x="548640" y="1572768"/>
            <a:ext cx="1143000" cy="960120"/>
          </a:xfrm>
          <a:prstGeom prst="roundRect">
            <a:avLst>
              <a:gd name="adj" fmla="val 7619"/>
            </a:avLst>
          </a:prstGeom>
          <a:solidFill>
            <a:srgbClr val="FFFFFF"/>
          </a:solidFill>
          <a:ln w="12700">
            <a:solidFill>
              <a:srgbClr val="5B6B7A"/>
            </a:solidFill>
            <a:prstDash val="solid"/>
          </a:ln>
        </p:spPr>
      </p:sp>
      <p:sp>
        <p:nvSpPr>
          <p:cNvPr id="10" name="Text 8"/>
          <p:cNvSpPr txBox="1"/>
          <p:nvPr/>
        </p:nvSpPr>
        <p:spPr>
          <a:xfrm>
            <a:off x="603504" y="1572768"/>
            <a:ext cx="1033272" cy="960120"/>
          </a:xfrm>
          <a:prstGeom prst="rect">
            <a:avLst/>
          </a:prstGeom>
          <a:noFill/>
          <a:ln/>
        </p:spPr>
        <p:txBody>
          <a:bodyPr wrap="square" lIns="0" tIns="0" rIns="0" bIns="0" rtlCol="0" anchor="ctr"/>
          <a:lstStyle/>
          <a:p>
            <a:pPr algn="ctr" indent="0" marL="0">
              <a:buNone/>
            </a:pPr>
            <a:r>
              <a:rPr lang="en-US" sz="1250" b="1" dirty="0">
                <a:solidFill>
                  <a:srgbClr val="13212E"/>
                </a:solidFill>
                <a:latin typeface="Calibri" pitchFamily="34" charset="0"/>
                <a:ea typeface="Calibri" pitchFamily="34" charset="-122"/>
                <a:cs typeface="Calibri" pitchFamily="34" charset="-120"/>
              </a:rPr>
              <a:t>Source</a:t>
            </a:r>
            <a:endParaRPr lang="en-US" sz="1250" dirty="0"/>
          </a:p>
          <a:p>
            <a:pPr algn="ctr" indent="0" marL="0">
              <a:buNone/>
            </a:pPr>
            <a:r>
              <a:rPr lang="en-US" sz="950" dirty="0">
                <a:solidFill>
                  <a:srgbClr val="13212E"/>
                </a:solidFill>
                <a:latin typeface="Calibri" pitchFamily="34" charset="0"/>
                <a:ea typeface="Calibri" pitchFamily="34" charset="-122"/>
                <a:cs typeface="Calibri" pitchFamily="34" charset="-120"/>
              </a:rPr>
              <a:t>Git URL · .zip</a:t>
            </a:r>
            <a:endParaRPr lang="en-US" sz="1250" dirty="0"/>
          </a:p>
        </p:txBody>
      </p:sp>
      <p:sp>
        <p:nvSpPr>
          <p:cNvPr id="11" name="Shape 9"/>
          <p:cNvSpPr/>
          <p:nvPr/>
        </p:nvSpPr>
        <p:spPr>
          <a:xfrm>
            <a:off x="1709928" y="2052828"/>
            <a:ext cx="192024" cy="0"/>
          </a:xfrm>
          <a:prstGeom prst="line">
            <a:avLst/>
          </a:prstGeom>
          <a:noFill/>
          <a:ln w="15875">
            <a:solidFill>
              <a:srgbClr val="5B6B7A"/>
            </a:solidFill>
            <a:prstDash val="solid"/>
            <a:tailEnd type="triangle"/>
          </a:ln>
        </p:spPr>
      </p:sp>
      <p:sp>
        <p:nvSpPr>
          <p:cNvPr id="12" name="Shape 10"/>
          <p:cNvSpPr/>
          <p:nvPr/>
        </p:nvSpPr>
        <p:spPr>
          <a:xfrm>
            <a:off x="1920240" y="1572768"/>
            <a:ext cx="1188720" cy="960120"/>
          </a:xfrm>
          <a:prstGeom prst="roundRect">
            <a:avLst>
              <a:gd name="adj" fmla="val 7619"/>
            </a:avLst>
          </a:prstGeom>
          <a:solidFill>
            <a:srgbClr val="FFFFFF"/>
          </a:solidFill>
          <a:ln w="12700">
            <a:solidFill>
              <a:srgbClr val="5B6B7A"/>
            </a:solidFill>
            <a:prstDash val="solid"/>
          </a:ln>
        </p:spPr>
      </p:sp>
      <p:sp>
        <p:nvSpPr>
          <p:cNvPr id="13" name="Text 11"/>
          <p:cNvSpPr txBox="1"/>
          <p:nvPr/>
        </p:nvSpPr>
        <p:spPr>
          <a:xfrm>
            <a:off x="1975104" y="1572768"/>
            <a:ext cx="1078992" cy="960120"/>
          </a:xfrm>
          <a:prstGeom prst="rect">
            <a:avLst/>
          </a:prstGeom>
          <a:noFill/>
          <a:ln/>
        </p:spPr>
        <p:txBody>
          <a:bodyPr wrap="square" lIns="0" tIns="0" rIns="0" bIns="0" rtlCol="0" anchor="ctr"/>
          <a:lstStyle/>
          <a:p>
            <a:pPr algn="ctr" indent="0" marL="0">
              <a:buNone/>
            </a:pPr>
            <a:r>
              <a:rPr lang="en-US" sz="1250" b="1" dirty="0">
                <a:solidFill>
                  <a:srgbClr val="13212E"/>
                </a:solidFill>
                <a:latin typeface="Calibri" pitchFamily="34" charset="0"/>
                <a:ea typeface="Calibri" pitchFamily="34" charset="-122"/>
                <a:cs typeface="Calibri" pitchFamily="34" charset="-120"/>
              </a:rPr>
              <a:t>Walk</a:t>
            </a:r>
            <a:endParaRPr lang="en-US" sz="1250" dirty="0"/>
          </a:p>
          <a:p>
            <a:pPr algn="ctr" indent="0" marL="0">
              <a:buNone/>
            </a:pPr>
            <a:r>
              <a:rPr lang="en-US" sz="950" dirty="0">
                <a:solidFill>
                  <a:srgbClr val="13212E"/>
                </a:solidFill>
                <a:latin typeface="Calibri" pitchFamily="34" charset="0"/>
                <a:ea typeface="Calibri" pitchFamily="34" charset="-122"/>
                <a:cs typeface="Calibri" pitchFamily="34" charset="-120"/>
              </a:rPr>
              <a:t>file manifest</a:t>
            </a:r>
            <a:endParaRPr lang="en-US" sz="1250" dirty="0"/>
          </a:p>
        </p:txBody>
      </p:sp>
      <p:sp>
        <p:nvSpPr>
          <p:cNvPr id="14" name="Shape 12"/>
          <p:cNvSpPr/>
          <p:nvPr/>
        </p:nvSpPr>
        <p:spPr>
          <a:xfrm>
            <a:off x="3127248" y="2052828"/>
            <a:ext cx="192024" cy="0"/>
          </a:xfrm>
          <a:prstGeom prst="line">
            <a:avLst/>
          </a:prstGeom>
          <a:noFill/>
          <a:ln w="15875">
            <a:solidFill>
              <a:srgbClr val="5B6B7A"/>
            </a:solidFill>
            <a:prstDash val="solid"/>
            <a:tailEnd type="triangle"/>
          </a:ln>
        </p:spPr>
      </p:sp>
      <p:sp>
        <p:nvSpPr>
          <p:cNvPr id="15" name="Shape 13"/>
          <p:cNvSpPr/>
          <p:nvPr/>
        </p:nvSpPr>
        <p:spPr>
          <a:xfrm>
            <a:off x="3337560" y="1572768"/>
            <a:ext cx="1188720" cy="960120"/>
          </a:xfrm>
          <a:prstGeom prst="roundRect">
            <a:avLst>
              <a:gd name="adj" fmla="val 7619"/>
            </a:avLst>
          </a:prstGeom>
          <a:solidFill>
            <a:srgbClr val="0E9F8E"/>
          </a:solidFill>
          <a:ln w="12700">
            <a:solidFill>
              <a:srgbClr val="0E9F8E"/>
            </a:solidFill>
            <a:prstDash val="solid"/>
          </a:ln>
        </p:spPr>
      </p:sp>
      <p:sp>
        <p:nvSpPr>
          <p:cNvPr id="16" name="Text 14"/>
          <p:cNvSpPr txBox="1"/>
          <p:nvPr/>
        </p:nvSpPr>
        <p:spPr>
          <a:xfrm>
            <a:off x="3392424" y="1572768"/>
            <a:ext cx="1078992"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Planner</a:t>
            </a:r>
            <a:endParaRPr lang="en-US" sz="1250" dirty="0"/>
          </a:p>
          <a:p>
            <a:pPr algn="ctr" indent="0" marL="0">
              <a:buNone/>
            </a:pPr>
            <a:r>
              <a:rPr lang="en-US" sz="950" dirty="0">
                <a:solidFill>
                  <a:srgbClr val="FFFFFF"/>
                </a:solidFill>
                <a:latin typeface="Calibri" pitchFamily="34" charset="0"/>
                <a:ea typeface="Calibri" pitchFamily="34" charset="-122"/>
                <a:cs typeface="Calibri" pitchFamily="34" charset="-120"/>
              </a:rPr>
              <a:t>route + priority</a:t>
            </a:r>
            <a:endParaRPr lang="en-US" sz="1250" dirty="0"/>
          </a:p>
        </p:txBody>
      </p:sp>
      <p:sp>
        <p:nvSpPr>
          <p:cNvPr id="17" name="Shape 15"/>
          <p:cNvSpPr/>
          <p:nvPr/>
        </p:nvSpPr>
        <p:spPr>
          <a:xfrm>
            <a:off x="4544568" y="2052828"/>
            <a:ext cx="192024" cy="0"/>
          </a:xfrm>
          <a:prstGeom prst="line">
            <a:avLst/>
          </a:prstGeom>
          <a:noFill/>
          <a:ln w="15875">
            <a:solidFill>
              <a:srgbClr val="5B6B7A"/>
            </a:solidFill>
            <a:prstDash val="solid"/>
            <a:tailEnd type="triangle"/>
          </a:ln>
        </p:spPr>
      </p:sp>
      <p:sp>
        <p:nvSpPr>
          <p:cNvPr id="18" name="Shape 16"/>
          <p:cNvSpPr/>
          <p:nvPr/>
        </p:nvSpPr>
        <p:spPr>
          <a:xfrm>
            <a:off x="4754880" y="1572768"/>
            <a:ext cx="1234440" cy="438912"/>
          </a:xfrm>
          <a:prstGeom prst="roundRect">
            <a:avLst>
              <a:gd name="adj" fmla="val 16667"/>
            </a:avLst>
          </a:prstGeom>
          <a:solidFill>
            <a:srgbClr val="0E9F8E"/>
          </a:solidFill>
          <a:ln w="12700">
            <a:solidFill>
              <a:srgbClr val="0E9F8E"/>
            </a:solidFill>
            <a:prstDash val="solid"/>
          </a:ln>
        </p:spPr>
      </p:sp>
      <p:sp>
        <p:nvSpPr>
          <p:cNvPr id="19" name="Text 17"/>
          <p:cNvSpPr txBox="1"/>
          <p:nvPr/>
        </p:nvSpPr>
        <p:spPr>
          <a:xfrm>
            <a:off x="4809744" y="1572768"/>
            <a:ext cx="11247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Code agent</a:t>
            </a:r>
            <a:endParaRPr lang="en-US" sz="1250" dirty="0"/>
          </a:p>
        </p:txBody>
      </p:sp>
      <p:sp>
        <p:nvSpPr>
          <p:cNvPr id="20" name="Shape 18"/>
          <p:cNvSpPr/>
          <p:nvPr/>
        </p:nvSpPr>
        <p:spPr>
          <a:xfrm>
            <a:off x="4754880" y="2093976"/>
            <a:ext cx="1234440" cy="438912"/>
          </a:xfrm>
          <a:prstGeom prst="roundRect">
            <a:avLst>
              <a:gd name="adj" fmla="val 16667"/>
            </a:avLst>
          </a:prstGeom>
          <a:solidFill>
            <a:srgbClr val="0E9F8E"/>
          </a:solidFill>
          <a:ln w="12700">
            <a:solidFill>
              <a:srgbClr val="0E9F8E"/>
            </a:solidFill>
            <a:prstDash val="solid"/>
          </a:ln>
        </p:spPr>
      </p:sp>
      <p:sp>
        <p:nvSpPr>
          <p:cNvPr id="21" name="Text 19"/>
          <p:cNvSpPr txBox="1"/>
          <p:nvPr/>
        </p:nvSpPr>
        <p:spPr>
          <a:xfrm>
            <a:off x="4809744" y="2093976"/>
            <a:ext cx="11247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Doc agent</a:t>
            </a:r>
            <a:endParaRPr lang="en-US" sz="1250" dirty="0"/>
          </a:p>
        </p:txBody>
      </p:sp>
      <p:sp>
        <p:nvSpPr>
          <p:cNvPr id="22" name="Shape 20"/>
          <p:cNvSpPr/>
          <p:nvPr/>
        </p:nvSpPr>
        <p:spPr>
          <a:xfrm>
            <a:off x="6007608" y="2052828"/>
            <a:ext cx="192024" cy="0"/>
          </a:xfrm>
          <a:prstGeom prst="line">
            <a:avLst/>
          </a:prstGeom>
          <a:noFill/>
          <a:ln w="15875">
            <a:solidFill>
              <a:srgbClr val="5B6B7A"/>
            </a:solidFill>
            <a:prstDash val="solid"/>
            <a:tailEnd type="triangle"/>
          </a:ln>
        </p:spPr>
      </p:sp>
      <p:sp>
        <p:nvSpPr>
          <p:cNvPr id="23" name="Shape 21"/>
          <p:cNvSpPr/>
          <p:nvPr/>
        </p:nvSpPr>
        <p:spPr>
          <a:xfrm>
            <a:off x="6217920" y="1572768"/>
            <a:ext cx="1188720" cy="960120"/>
          </a:xfrm>
          <a:prstGeom prst="roundRect">
            <a:avLst>
              <a:gd name="adj" fmla="val 7619"/>
            </a:avLst>
          </a:prstGeom>
          <a:solidFill>
            <a:srgbClr val="FFFFFF"/>
          </a:solidFill>
          <a:ln w="12700">
            <a:solidFill>
              <a:srgbClr val="5B6B7A"/>
            </a:solidFill>
            <a:prstDash val="solid"/>
          </a:ln>
        </p:spPr>
      </p:sp>
      <p:sp>
        <p:nvSpPr>
          <p:cNvPr id="24" name="Text 22"/>
          <p:cNvSpPr txBox="1"/>
          <p:nvPr/>
        </p:nvSpPr>
        <p:spPr>
          <a:xfrm>
            <a:off x="6272784" y="1572768"/>
            <a:ext cx="1078992" cy="960120"/>
          </a:xfrm>
          <a:prstGeom prst="rect">
            <a:avLst/>
          </a:prstGeom>
          <a:noFill/>
          <a:ln/>
        </p:spPr>
        <p:txBody>
          <a:bodyPr wrap="square" lIns="0" tIns="0" rIns="0" bIns="0" rtlCol="0" anchor="ctr"/>
          <a:lstStyle/>
          <a:p>
            <a:pPr algn="ctr" indent="0" marL="0">
              <a:buNone/>
            </a:pPr>
            <a:r>
              <a:rPr lang="en-US" sz="1250" b="1" dirty="0">
                <a:solidFill>
                  <a:srgbClr val="13212E"/>
                </a:solidFill>
                <a:latin typeface="Calibri" pitchFamily="34" charset="0"/>
                <a:ea typeface="Calibri" pitchFamily="34" charset="-122"/>
                <a:cs typeface="Calibri" pitchFamily="34" charset="-120"/>
              </a:rPr>
              <a:t>Validator</a:t>
            </a:r>
            <a:endParaRPr lang="en-US" sz="1250" dirty="0"/>
          </a:p>
          <a:p>
            <a:pPr algn="ctr" indent="0" marL="0">
              <a:buNone/>
            </a:pPr>
            <a:r>
              <a:rPr lang="en-US" sz="950" dirty="0">
                <a:solidFill>
                  <a:srgbClr val="13212E"/>
                </a:solidFill>
                <a:latin typeface="Calibri" pitchFamily="34" charset="0"/>
                <a:ea typeface="Calibri" pitchFamily="34" charset="-122"/>
                <a:cs typeface="Calibri" pitchFamily="34" charset="-120"/>
              </a:rPr>
              <a:t>drops bad lines &amp; dangling edges</a:t>
            </a:r>
            <a:endParaRPr lang="en-US" sz="1250" dirty="0"/>
          </a:p>
        </p:txBody>
      </p:sp>
      <p:sp>
        <p:nvSpPr>
          <p:cNvPr id="25" name="Shape 23"/>
          <p:cNvSpPr/>
          <p:nvPr/>
        </p:nvSpPr>
        <p:spPr>
          <a:xfrm>
            <a:off x="7424928" y="2052828"/>
            <a:ext cx="192024" cy="0"/>
          </a:xfrm>
          <a:prstGeom prst="line">
            <a:avLst/>
          </a:prstGeom>
          <a:noFill/>
          <a:ln w="15875">
            <a:solidFill>
              <a:srgbClr val="5B6B7A"/>
            </a:solidFill>
            <a:prstDash val="solid"/>
            <a:tailEnd type="triangle"/>
          </a:ln>
        </p:spPr>
      </p:sp>
      <p:sp>
        <p:nvSpPr>
          <p:cNvPr id="26" name="Shape 24"/>
          <p:cNvSpPr/>
          <p:nvPr/>
        </p:nvSpPr>
        <p:spPr>
          <a:xfrm>
            <a:off x="7635240" y="1572768"/>
            <a:ext cx="1188720" cy="960120"/>
          </a:xfrm>
          <a:prstGeom prst="roundRect">
            <a:avLst>
              <a:gd name="adj" fmla="val 7619"/>
            </a:avLst>
          </a:prstGeom>
          <a:solidFill>
            <a:srgbClr val="0E9F8E"/>
          </a:solidFill>
          <a:ln w="12700">
            <a:solidFill>
              <a:srgbClr val="0E9F8E"/>
            </a:solidFill>
            <a:prstDash val="solid"/>
          </a:ln>
        </p:spPr>
      </p:sp>
      <p:sp>
        <p:nvSpPr>
          <p:cNvPr id="27" name="Text 25"/>
          <p:cNvSpPr txBox="1"/>
          <p:nvPr/>
        </p:nvSpPr>
        <p:spPr>
          <a:xfrm>
            <a:off x="7690104" y="1572768"/>
            <a:ext cx="1078992"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Linker</a:t>
            </a:r>
            <a:endParaRPr lang="en-US" sz="1250" dirty="0"/>
          </a:p>
          <a:p>
            <a:pPr algn="ctr" indent="0" marL="0">
              <a:buNone/>
            </a:pPr>
            <a:r>
              <a:rPr lang="en-US" sz="950" dirty="0">
                <a:solidFill>
                  <a:srgbClr val="FFFFFF"/>
                </a:solidFill>
                <a:latin typeface="Calibri" pitchFamily="34" charset="0"/>
                <a:ea typeface="Calibri" pitchFamily="34" charset="-122"/>
                <a:cs typeface="Calibri" pitchFamily="34" charset="-120"/>
              </a:rPr>
              <a:t>cross-file refs</a:t>
            </a:r>
            <a:endParaRPr lang="en-US" sz="1250" dirty="0"/>
          </a:p>
        </p:txBody>
      </p:sp>
      <p:sp>
        <p:nvSpPr>
          <p:cNvPr id="28" name="Shape 26"/>
          <p:cNvSpPr/>
          <p:nvPr/>
        </p:nvSpPr>
        <p:spPr>
          <a:xfrm>
            <a:off x="8842248" y="2052828"/>
            <a:ext cx="192024" cy="0"/>
          </a:xfrm>
          <a:prstGeom prst="line">
            <a:avLst/>
          </a:prstGeom>
          <a:noFill/>
          <a:ln w="15875">
            <a:solidFill>
              <a:srgbClr val="5B6B7A"/>
            </a:solidFill>
            <a:prstDash val="solid"/>
            <a:tailEnd type="triangle"/>
          </a:ln>
        </p:spPr>
      </p:sp>
      <p:sp>
        <p:nvSpPr>
          <p:cNvPr id="29" name="Shape 27"/>
          <p:cNvSpPr/>
          <p:nvPr/>
        </p:nvSpPr>
        <p:spPr>
          <a:xfrm>
            <a:off x="9052560" y="1572768"/>
            <a:ext cx="1097280" cy="960120"/>
          </a:xfrm>
          <a:prstGeom prst="roundRect">
            <a:avLst>
              <a:gd name="adj" fmla="val 7619"/>
            </a:avLst>
          </a:prstGeom>
          <a:solidFill>
            <a:srgbClr val="FFFFFF"/>
          </a:solidFill>
          <a:ln w="12700">
            <a:solidFill>
              <a:srgbClr val="5B6B7A"/>
            </a:solidFill>
            <a:prstDash val="solid"/>
          </a:ln>
        </p:spPr>
      </p:sp>
      <p:sp>
        <p:nvSpPr>
          <p:cNvPr id="30" name="Text 28"/>
          <p:cNvSpPr txBox="1"/>
          <p:nvPr/>
        </p:nvSpPr>
        <p:spPr>
          <a:xfrm>
            <a:off x="9107424" y="1572768"/>
            <a:ext cx="987552" cy="960120"/>
          </a:xfrm>
          <a:prstGeom prst="rect">
            <a:avLst/>
          </a:prstGeom>
          <a:noFill/>
          <a:ln/>
        </p:spPr>
        <p:txBody>
          <a:bodyPr wrap="square" lIns="0" tIns="0" rIns="0" bIns="0" rtlCol="0" anchor="ctr"/>
          <a:lstStyle/>
          <a:p>
            <a:pPr algn="ctr" indent="0" marL="0">
              <a:buNone/>
            </a:pPr>
            <a:r>
              <a:rPr lang="en-US" sz="1250" b="1" dirty="0">
                <a:solidFill>
                  <a:srgbClr val="13212E"/>
                </a:solidFill>
                <a:latin typeface="Calibri" pitchFamily="34" charset="0"/>
                <a:ea typeface="Calibri" pitchFamily="34" charset="-122"/>
                <a:cs typeface="Calibri" pitchFamily="34" charset="-120"/>
              </a:rPr>
              <a:t>Embed</a:t>
            </a:r>
            <a:endParaRPr lang="en-US" sz="1250" dirty="0"/>
          </a:p>
          <a:p>
            <a:pPr algn="ctr" indent="0" marL="0">
              <a:buNone/>
            </a:pPr>
            <a:r>
              <a:rPr lang="en-US" sz="950" dirty="0">
                <a:solidFill>
                  <a:srgbClr val="13212E"/>
                </a:solidFill>
                <a:latin typeface="Calibri" pitchFamily="34" charset="0"/>
                <a:ea typeface="Calibri" pitchFamily="34" charset="-122"/>
                <a:cs typeface="Calibri" pitchFamily="34" charset="-120"/>
              </a:rPr>
              <a:t>384-d vectors</a:t>
            </a:r>
            <a:endParaRPr lang="en-US" sz="1250" dirty="0"/>
          </a:p>
        </p:txBody>
      </p:sp>
      <p:sp>
        <p:nvSpPr>
          <p:cNvPr id="31" name="Shape 29"/>
          <p:cNvSpPr/>
          <p:nvPr/>
        </p:nvSpPr>
        <p:spPr>
          <a:xfrm>
            <a:off x="10168128" y="2052828"/>
            <a:ext cx="192024" cy="0"/>
          </a:xfrm>
          <a:prstGeom prst="line">
            <a:avLst/>
          </a:prstGeom>
          <a:noFill/>
          <a:ln w="15875">
            <a:solidFill>
              <a:srgbClr val="5B6B7A"/>
            </a:solidFill>
            <a:prstDash val="solid"/>
            <a:tailEnd type="triangle"/>
          </a:ln>
        </p:spPr>
      </p:sp>
      <p:sp>
        <p:nvSpPr>
          <p:cNvPr id="32" name="Shape 30"/>
          <p:cNvSpPr/>
          <p:nvPr/>
        </p:nvSpPr>
        <p:spPr>
          <a:xfrm>
            <a:off x="10378440" y="1572768"/>
            <a:ext cx="1325880" cy="960120"/>
          </a:xfrm>
          <a:prstGeom prst="roundRect">
            <a:avLst>
              <a:gd name="adj" fmla="val 7619"/>
            </a:avLst>
          </a:prstGeom>
          <a:solidFill>
            <a:srgbClr val="F2A541"/>
          </a:solidFill>
          <a:ln w="12700">
            <a:solidFill>
              <a:srgbClr val="F2A541"/>
            </a:solidFill>
            <a:prstDash val="solid"/>
          </a:ln>
        </p:spPr>
      </p:sp>
      <p:sp>
        <p:nvSpPr>
          <p:cNvPr id="33" name="Text 31"/>
          <p:cNvSpPr txBox="1"/>
          <p:nvPr/>
        </p:nvSpPr>
        <p:spPr>
          <a:xfrm>
            <a:off x="10433304" y="1572768"/>
            <a:ext cx="1216152" cy="960120"/>
          </a:xfrm>
          <a:prstGeom prst="rect">
            <a:avLst/>
          </a:prstGeom>
          <a:noFill/>
          <a:ln/>
        </p:spPr>
        <p:txBody>
          <a:bodyPr wrap="square" lIns="0" tIns="0" rIns="0" bIns="0" rtlCol="0" anchor="ctr"/>
          <a:lstStyle/>
          <a:p>
            <a:pPr algn="ctr" indent="0" marL="0">
              <a:buNone/>
            </a:pPr>
            <a:r>
              <a:rPr lang="en-US" sz="1250" b="1" dirty="0">
                <a:solidFill>
                  <a:srgbClr val="13212E"/>
                </a:solidFill>
                <a:latin typeface="Calibri" pitchFamily="34" charset="0"/>
                <a:ea typeface="Calibri" pitchFamily="34" charset="-122"/>
                <a:cs typeface="Calibri" pitchFamily="34" charset="-120"/>
              </a:rPr>
              <a:t>Graph store</a:t>
            </a:r>
            <a:endParaRPr lang="en-US" sz="1250" dirty="0"/>
          </a:p>
          <a:p>
            <a:pPr algn="ctr" indent="0" marL="0">
              <a:buNone/>
            </a:pPr>
            <a:r>
              <a:rPr lang="en-US" sz="950" dirty="0">
                <a:solidFill>
                  <a:srgbClr val="13212E"/>
                </a:solidFill>
                <a:latin typeface="Calibri" pitchFamily="34" charset="0"/>
                <a:ea typeface="Calibri" pitchFamily="34" charset="-122"/>
                <a:cs typeface="Calibri" pitchFamily="34" charset="-120"/>
              </a:rPr>
              <a:t>Neo4j · in-memory</a:t>
            </a:r>
            <a:endParaRPr lang="en-US" sz="1250" dirty="0"/>
          </a:p>
        </p:txBody>
      </p:sp>
      <p:sp>
        <p:nvSpPr>
          <p:cNvPr id="34" name="Text 32"/>
          <p:cNvSpPr txBox="1"/>
          <p:nvPr/>
        </p:nvSpPr>
        <p:spPr>
          <a:xfrm>
            <a:off x="548640" y="3017520"/>
            <a:ext cx="5486400" cy="274320"/>
          </a:xfrm>
          <a:prstGeom prst="rect">
            <a:avLst/>
          </a:prstGeom>
          <a:noFill/>
          <a:ln/>
        </p:spPr>
        <p:txBody>
          <a:bodyPr wrap="square" lIns="0" tIns="0" rIns="0" bIns="0" rtlCol="0" anchor="t"/>
          <a:lstStyle/>
          <a:p>
            <a:pPr indent="0" marL="0">
              <a:buNone/>
            </a:pPr>
            <a:r>
              <a:rPr lang="en-US" sz="1100" b="1" spc="200" kern="0" dirty="0">
                <a:solidFill>
                  <a:srgbClr val="0E9F8E"/>
                </a:solidFill>
                <a:latin typeface="Calibri" pitchFamily="34" charset="0"/>
                <a:ea typeface="Calibri" pitchFamily="34" charset="-122"/>
                <a:cs typeface="Calibri" pitchFamily="34" charset="-120"/>
              </a:rPr>
              <a:t>ASK  ·  every question</a:t>
            </a:r>
            <a:endParaRPr lang="en-US" sz="1100" dirty="0"/>
          </a:p>
        </p:txBody>
      </p:sp>
      <p:sp>
        <p:nvSpPr>
          <p:cNvPr id="35" name="Shape 33"/>
          <p:cNvSpPr/>
          <p:nvPr/>
        </p:nvSpPr>
        <p:spPr>
          <a:xfrm>
            <a:off x="548640" y="3355848"/>
            <a:ext cx="1645920" cy="868680"/>
          </a:xfrm>
          <a:prstGeom prst="roundRect">
            <a:avLst>
              <a:gd name="adj" fmla="val 8421"/>
            </a:avLst>
          </a:prstGeom>
          <a:solidFill>
            <a:srgbClr val="FFFFFF"/>
          </a:solidFill>
          <a:ln w="12700">
            <a:solidFill>
              <a:srgbClr val="5B6B7A"/>
            </a:solidFill>
            <a:prstDash val="solid"/>
          </a:ln>
        </p:spPr>
      </p:sp>
      <p:sp>
        <p:nvSpPr>
          <p:cNvPr id="36" name="Text 34"/>
          <p:cNvSpPr txBox="1"/>
          <p:nvPr/>
        </p:nvSpPr>
        <p:spPr>
          <a:xfrm>
            <a:off x="603504" y="3355848"/>
            <a:ext cx="1536192" cy="868680"/>
          </a:xfrm>
          <a:prstGeom prst="rect">
            <a:avLst/>
          </a:prstGeom>
          <a:noFill/>
          <a:ln/>
        </p:spPr>
        <p:txBody>
          <a:bodyPr wrap="square" lIns="0" tIns="0" rIns="0" bIns="0" rtlCol="0" anchor="ctr"/>
          <a:lstStyle/>
          <a:p>
            <a:pPr algn="ctr" indent="0" marL="0">
              <a:buNone/>
            </a:pPr>
            <a:r>
              <a:rPr lang="en-US" sz="1250" b="1" dirty="0">
                <a:solidFill>
                  <a:srgbClr val="13212E"/>
                </a:solidFill>
                <a:latin typeface="Calibri" pitchFamily="34" charset="0"/>
                <a:ea typeface="Calibri" pitchFamily="34" charset="-122"/>
                <a:cs typeface="Calibri" pitchFamily="34" charset="-120"/>
              </a:rPr>
              <a:t>Question</a:t>
            </a:r>
            <a:endParaRPr lang="en-US" sz="1250" dirty="0"/>
          </a:p>
          <a:p>
            <a:pPr algn="ctr" indent="0" marL="0">
              <a:buNone/>
            </a:pPr>
            <a:r>
              <a:rPr lang="en-US" sz="950" dirty="0">
                <a:solidFill>
                  <a:srgbClr val="13212E"/>
                </a:solidFill>
                <a:latin typeface="Calibri" pitchFamily="34" charset="0"/>
                <a:ea typeface="Calibri" pitchFamily="34" charset="-122"/>
                <a:cs typeface="Calibri" pitchFamily="34" charset="-120"/>
              </a:rPr>
              <a:t>UI or POST /ask</a:t>
            </a:r>
            <a:endParaRPr lang="en-US" sz="1250" dirty="0"/>
          </a:p>
        </p:txBody>
      </p:sp>
      <p:sp>
        <p:nvSpPr>
          <p:cNvPr id="37" name="Shape 35"/>
          <p:cNvSpPr/>
          <p:nvPr/>
        </p:nvSpPr>
        <p:spPr>
          <a:xfrm>
            <a:off x="2212848" y="3790188"/>
            <a:ext cx="219456" cy="0"/>
          </a:xfrm>
          <a:prstGeom prst="line">
            <a:avLst/>
          </a:prstGeom>
          <a:noFill/>
          <a:ln w="15875">
            <a:solidFill>
              <a:srgbClr val="5B6B7A"/>
            </a:solidFill>
            <a:prstDash val="solid"/>
            <a:tailEnd type="triangle"/>
          </a:ln>
        </p:spPr>
      </p:sp>
      <p:sp>
        <p:nvSpPr>
          <p:cNvPr id="38" name="Shape 36"/>
          <p:cNvSpPr/>
          <p:nvPr/>
        </p:nvSpPr>
        <p:spPr>
          <a:xfrm>
            <a:off x="2450592" y="3355848"/>
            <a:ext cx="1645920" cy="868680"/>
          </a:xfrm>
          <a:prstGeom prst="roundRect">
            <a:avLst>
              <a:gd name="adj" fmla="val 8421"/>
            </a:avLst>
          </a:prstGeom>
          <a:solidFill>
            <a:srgbClr val="FFFFFF"/>
          </a:solidFill>
          <a:ln w="12700">
            <a:solidFill>
              <a:srgbClr val="5B6B7A"/>
            </a:solidFill>
            <a:prstDash val="solid"/>
          </a:ln>
        </p:spPr>
      </p:sp>
      <p:sp>
        <p:nvSpPr>
          <p:cNvPr id="39" name="Text 37"/>
          <p:cNvSpPr txBox="1"/>
          <p:nvPr/>
        </p:nvSpPr>
        <p:spPr>
          <a:xfrm>
            <a:off x="2505456" y="3355848"/>
            <a:ext cx="1536192" cy="868680"/>
          </a:xfrm>
          <a:prstGeom prst="rect">
            <a:avLst/>
          </a:prstGeom>
          <a:noFill/>
          <a:ln/>
        </p:spPr>
        <p:txBody>
          <a:bodyPr wrap="square" lIns="0" tIns="0" rIns="0" bIns="0" rtlCol="0" anchor="ctr"/>
          <a:lstStyle/>
          <a:p>
            <a:pPr algn="ctr" indent="0" marL="0">
              <a:buNone/>
            </a:pPr>
            <a:r>
              <a:rPr lang="en-US" sz="1250" b="1" dirty="0">
                <a:solidFill>
                  <a:srgbClr val="13212E"/>
                </a:solidFill>
                <a:latin typeface="Calibri" pitchFamily="34" charset="0"/>
                <a:ea typeface="Calibri" pitchFamily="34" charset="-122"/>
                <a:cs typeface="Calibri" pitchFamily="34" charset="-120"/>
              </a:rPr>
              <a:t>Embed</a:t>
            </a:r>
            <a:endParaRPr lang="en-US" sz="1250" dirty="0"/>
          </a:p>
          <a:p>
            <a:pPr algn="ctr" indent="0" marL="0">
              <a:buNone/>
            </a:pPr>
            <a:r>
              <a:rPr lang="en-US" sz="950" dirty="0">
                <a:solidFill>
                  <a:srgbClr val="13212E"/>
                </a:solidFill>
                <a:latin typeface="Calibri" pitchFamily="34" charset="0"/>
                <a:ea typeface="Calibri" pitchFamily="34" charset="-122"/>
                <a:cs typeface="Calibri" pitchFamily="34" charset="-120"/>
              </a:rPr>
              <a:t>question vector</a:t>
            </a:r>
            <a:endParaRPr lang="en-US" sz="1250" dirty="0"/>
          </a:p>
        </p:txBody>
      </p:sp>
      <p:sp>
        <p:nvSpPr>
          <p:cNvPr id="40" name="Shape 38"/>
          <p:cNvSpPr/>
          <p:nvPr/>
        </p:nvSpPr>
        <p:spPr>
          <a:xfrm>
            <a:off x="4114800" y="3790188"/>
            <a:ext cx="219456" cy="0"/>
          </a:xfrm>
          <a:prstGeom prst="line">
            <a:avLst/>
          </a:prstGeom>
          <a:noFill/>
          <a:ln w="15875">
            <a:solidFill>
              <a:srgbClr val="5B6B7A"/>
            </a:solidFill>
            <a:prstDash val="solid"/>
            <a:tailEnd type="triangle"/>
          </a:ln>
        </p:spPr>
      </p:sp>
      <p:sp>
        <p:nvSpPr>
          <p:cNvPr id="41" name="Shape 39"/>
          <p:cNvSpPr/>
          <p:nvPr/>
        </p:nvSpPr>
        <p:spPr>
          <a:xfrm>
            <a:off x="4352544" y="3355848"/>
            <a:ext cx="1645920" cy="868680"/>
          </a:xfrm>
          <a:prstGeom prst="roundRect">
            <a:avLst>
              <a:gd name="adj" fmla="val 8421"/>
            </a:avLst>
          </a:prstGeom>
          <a:solidFill>
            <a:srgbClr val="FFFFFF"/>
          </a:solidFill>
          <a:ln w="12700">
            <a:solidFill>
              <a:srgbClr val="5B6B7A"/>
            </a:solidFill>
            <a:prstDash val="solid"/>
          </a:ln>
        </p:spPr>
      </p:sp>
      <p:sp>
        <p:nvSpPr>
          <p:cNvPr id="42" name="Text 40"/>
          <p:cNvSpPr txBox="1"/>
          <p:nvPr/>
        </p:nvSpPr>
        <p:spPr>
          <a:xfrm>
            <a:off x="4407408" y="3355848"/>
            <a:ext cx="1536192" cy="868680"/>
          </a:xfrm>
          <a:prstGeom prst="rect">
            <a:avLst/>
          </a:prstGeom>
          <a:noFill/>
          <a:ln/>
        </p:spPr>
        <p:txBody>
          <a:bodyPr wrap="square" lIns="0" tIns="0" rIns="0" bIns="0" rtlCol="0" anchor="ctr"/>
          <a:lstStyle/>
          <a:p>
            <a:pPr algn="ctr" indent="0" marL="0">
              <a:buNone/>
            </a:pPr>
            <a:r>
              <a:rPr lang="en-US" sz="1250" b="1" dirty="0">
                <a:solidFill>
                  <a:srgbClr val="13212E"/>
                </a:solidFill>
                <a:latin typeface="Calibri" pitchFamily="34" charset="0"/>
                <a:ea typeface="Calibri" pitchFamily="34" charset="-122"/>
                <a:cs typeface="Calibri" pitchFamily="34" charset="-120"/>
              </a:rPr>
              <a:t>Retrieve</a:t>
            </a:r>
            <a:endParaRPr lang="en-US" sz="1250" dirty="0"/>
          </a:p>
          <a:p>
            <a:pPr algn="ctr" indent="0" marL="0">
              <a:buNone/>
            </a:pPr>
            <a:r>
              <a:rPr lang="en-US" sz="950" dirty="0">
                <a:solidFill>
                  <a:srgbClr val="13212E"/>
                </a:solidFill>
                <a:latin typeface="Calibri" pitchFamily="34" charset="0"/>
                <a:ea typeface="Calibri" pitchFamily="34" charset="-122"/>
                <a:cs typeface="Calibri" pitchFamily="34" charset="-120"/>
              </a:rPr>
              <a:t>top-k subgraph</a:t>
            </a:r>
            <a:endParaRPr lang="en-US" sz="1250" dirty="0"/>
          </a:p>
        </p:txBody>
      </p:sp>
      <p:sp>
        <p:nvSpPr>
          <p:cNvPr id="43" name="Shape 41"/>
          <p:cNvSpPr/>
          <p:nvPr/>
        </p:nvSpPr>
        <p:spPr>
          <a:xfrm>
            <a:off x="6016752" y="3790188"/>
            <a:ext cx="219456" cy="0"/>
          </a:xfrm>
          <a:prstGeom prst="line">
            <a:avLst/>
          </a:prstGeom>
          <a:noFill/>
          <a:ln w="15875">
            <a:solidFill>
              <a:srgbClr val="5B6B7A"/>
            </a:solidFill>
            <a:prstDash val="solid"/>
            <a:tailEnd type="triangle"/>
          </a:ln>
        </p:spPr>
      </p:sp>
      <p:sp>
        <p:nvSpPr>
          <p:cNvPr id="44" name="Shape 42"/>
          <p:cNvSpPr/>
          <p:nvPr/>
        </p:nvSpPr>
        <p:spPr>
          <a:xfrm>
            <a:off x="6254496" y="3355848"/>
            <a:ext cx="1645920" cy="868680"/>
          </a:xfrm>
          <a:prstGeom prst="roundRect">
            <a:avLst>
              <a:gd name="adj" fmla="val 8421"/>
            </a:avLst>
          </a:prstGeom>
          <a:solidFill>
            <a:srgbClr val="0E9F8E"/>
          </a:solidFill>
          <a:ln w="12700">
            <a:solidFill>
              <a:srgbClr val="0E9F8E"/>
            </a:solidFill>
            <a:prstDash val="solid"/>
          </a:ln>
        </p:spPr>
      </p:sp>
      <p:sp>
        <p:nvSpPr>
          <p:cNvPr id="45" name="Text 43"/>
          <p:cNvSpPr txBox="1"/>
          <p:nvPr/>
        </p:nvSpPr>
        <p:spPr>
          <a:xfrm>
            <a:off x="6309360" y="3355848"/>
            <a:ext cx="1536192"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Answer agent</a:t>
            </a:r>
            <a:endParaRPr lang="en-US" sz="1250" dirty="0"/>
          </a:p>
          <a:p>
            <a:pPr algn="ctr" indent="0" marL="0">
              <a:buNone/>
            </a:pPr>
            <a:r>
              <a:rPr lang="en-US" sz="950" dirty="0">
                <a:solidFill>
                  <a:srgbClr val="FFFFFF"/>
                </a:solidFill>
                <a:latin typeface="Calibri" pitchFamily="34" charset="0"/>
                <a:ea typeface="Calibri" pitchFamily="34" charset="-122"/>
                <a:cs typeface="Calibri" pitchFamily="34" charset="-120"/>
              </a:rPr>
              <a:t>answers from nodes only</a:t>
            </a:r>
            <a:endParaRPr lang="en-US" sz="1250" dirty="0"/>
          </a:p>
        </p:txBody>
      </p:sp>
      <p:sp>
        <p:nvSpPr>
          <p:cNvPr id="46" name="Shape 44"/>
          <p:cNvSpPr/>
          <p:nvPr/>
        </p:nvSpPr>
        <p:spPr>
          <a:xfrm>
            <a:off x="7918704" y="3790188"/>
            <a:ext cx="219456" cy="0"/>
          </a:xfrm>
          <a:prstGeom prst="line">
            <a:avLst/>
          </a:prstGeom>
          <a:noFill/>
          <a:ln w="15875">
            <a:solidFill>
              <a:srgbClr val="5B6B7A"/>
            </a:solidFill>
            <a:prstDash val="solid"/>
            <a:tailEnd type="triangle"/>
          </a:ln>
        </p:spPr>
      </p:sp>
      <p:sp>
        <p:nvSpPr>
          <p:cNvPr id="47" name="Shape 45"/>
          <p:cNvSpPr/>
          <p:nvPr/>
        </p:nvSpPr>
        <p:spPr>
          <a:xfrm>
            <a:off x="8156448" y="3355848"/>
            <a:ext cx="1645920" cy="868680"/>
          </a:xfrm>
          <a:prstGeom prst="roundRect">
            <a:avLst>
              <a:gd name="adj" fmla="val 8421"/>
            </a:avLst>
          </a:prstGeom>
          <a:solidFill>
            <a:srgbClr val="FFFFFF"/>
          </a:solidFill>
          <a:ln w="12700">
            <a:solidFill>
              <a:srgbClr val="5B6B7A"/>
            </a:solidFill>
            <a:prstDash val="solid"/>
          </a:ln>
        </p:spPr>
      </p:sp>
      <p:sp>
        <p:nvSpPr>
          <p:cNvPr id="48" name="Text 46"/>
          <p:cNvSpPr txBox="1"/>
          <p:nvPr/>
        </p:nvSpPr>
        <p:spPr>
          <a:xfrm>
            <a:off x="8211312" y="3355848"/>
            <a:ext cx="1536192" cy="868680"/>
          </a:xfrm>
          <a:prstGeom prst="rect">
            <a:avLst/>
          </a:prstGeom>
          <a:noFill/>
          <a:ln/>
        </p:spPr>
        <p:txBody>
          <a:bodyPr wrap="square" lIns="0" tIns="0" rIns="0" bIns="0" rtlCol="0" anchor="ctr"/>
          <a:lstStyle/>
          <a:p>
            <a:pPr algn="ctr" indent="0" marL="0">
              <a:buNone/>
            </a:pPr>
            <a:r>
              <a:rPr lang="en-US" sz="1250" b="1" dirty="0">
                <a:solidFill>
                  <a:srgbClr val="13212E"/>
                </a:solidFill>
                <a:latin typeface="Calibri" pitchFamily="34" charset="0"/>
                <a:ea typeface="Calibri" pitchFamily="34" charset="-122"/>
                <a:cs typeface="Calibri" pitchFamily="34" charset="-120"/>
              </a:rPr>
              <a:t>Citation check</a:t>
            </a:r>
            <a:endParaRPr lang="en-US" sz="1250" dirty="0"/>
          </a:p>
          <a:p>
            <a:pPr algn="ctr" indent="0" marL="0">
              <a:buNone/>
            </a:pPr>
            <a:r>
              <a:rPr lang="en-US" sz="950" dirty="0">
                <a:solidFill>
                  <a:srgbClr val="13212E"/>
                </a:solidFill>
                <a:latin typeface="Calibri" pitchFamily="34" charset="0"/>
                <a:ea typeface="Calibri" pitchFamily="34" charset="-122"/>
                <a:cs typeface="Calibri" pitchFamily="34" charset="-120"/>
              </a:rPr>
              <a:t>every cited id must exist</a:t>
            </a:r>
            <a:endParaRPr lang="en-US" sz="1250" dirty="0"/>
          </a:p>
        </p:txBody>
      </p:sp>
      <p:sp>
        <p:nvSpPr>
          <p:cNvPr id="49" name="Shape 47"/>
          <p:cNvSpPr/>
          <p:nvPr/>
        </p:nvSpPr>
        <p:spPr>
          <a:xfrm>
            <a:off x="9820656" y="3790188"/>
            <a:ext cx="219456" cy="0"/>
          </a:xfrm>
          <a:prstGeom prst="line">
            <a:avLst/>
          </a:prstGeom>
          <a:noFill/>
          <a:ln w="15875">
            <a:solidFill>
              <a:srgbClr val="5B6B7A"/>
            </a:solidFill>
            <a:prstDash val="solid"/>
            <a:tailEnd type="triangle"/>
          </a:ln>
        </p:spPr>
      </p:sp>
      <p:sp>
        <p:nvSpPr>
          <p:cNvPr id="50" name="Shape 48"/>
          <p:cNvSpPr/>
          <p:nvPr/>
        </p:nvSpPr>
        <p:spPr>
          <a:xfrm>
            <a:off x="10058400" y="3355848"/>
            <a:ext cx="1645920" cy="868680"/>
          </a:xfrm>
          <a:prstGeom prst="roundRect">
            <a:avLst>
              <a:gd name="adj" fmla="val 8421"/>
            </a:avLst>
          </a:prstGeom>
          <a:solidFill>
            <a:srgbClr val="FFFFFF"/>
          </a:solidFill>
          <a:ln w="12700">
            <a:solidFill>
              <a:srgbClr val="5B6B7A"/>
            </a:solidFill>
            <a:prstDash val="solid"/>
          </a:ln>
        </p:spPr>
      </p:sp>
      <p:sp>
        <p:nvSpPr>
          <p:cNvPr id="51" name="Text 49"/>
          <p:cNvSpPr txBox="1"/>
          <p:nvPr/>
        </p:nvSpPr>
        <p:spPr>
          <a:xfrm>
            <a:off x="10113264" y="3355848"/>
            <a:ext cx="1536192" cy="868680"/>
          </a:xfrm>
          <a:prstGeom prst="rect">
            <a:avLst/>
          </a:prstGeom>
          <a:noFill/>
          <a:ln/>
        </p:spPr>
        <p:txBody>
          <a:bodyPr wrap="square" lIns="0" tIns="0" rIns="0" bIns="0" rtlCol="0" anchor="ctr"/>
          <a:lstStyle/>
          <a:p>
            <a:pPr algn="ctr" indent="0" marL="0">
              <a:buNone/>
            </a:pPr>
            <a:r>
              <a:rPr lang="en-US" sz="1250" b="1" dirty="0">
                <a:solidFill>
                  <a:srgbClr val="13212E"/>
                </a:solidFill>
                <a:latin typeface="Calibri" pitchFamily="34" charset="0"/>
                <a:ea typeface="Calibri" pitchFamily="34" charset="-122"/>
                <a:cs typeface="Calibri" pitchFamily="34" charset="-120"/>
              </a:rPr>
              <a:t>Answer</a:t>
            </a:r>
            <a:endParaRPr lang="en-US" sz="1250" dirty="0"/>
          </a:p>
          <a:p>
            <a:pPr algn="ctr" indent="0" marL="0">
              <a:buNone/>
            </a:pPr>
            <a:r>
              <a:rPr lang="en-US" sz="950" dirty="0">
                <a:solidFill>
                  <a:srgbClr val="13212E"/>
                </a:solidFill>
                <a:latin typeface="Calibri" pitchFamily="34" charset="0"/>
                <a:ea typeface="Calibri" pitchFamily="34" charset="-122"/>
                <a:cs typeface="Calibri" pitchFamily="34" charset="-120"/>
              </a:rPr>
              <a:t>citations · grounded flag</a:t>
            </a:r>
            <a:endParaRPr lang="en-US" sz="1250" dirty="0"/>
          </a:p>
        </p:txBody>
      </p:sp>
      <p:sp>
        <p:nvSpPr>
          <p:cNvPr id="52" name="Shape 50"/>
          <p:cNvSpPr/>
          <p:nvPr/>
        </p:nvSpPr>
        <p:spPr>
          <a:xfrm>
            <a:off x="11041380" y="2532888"/>
            <a:ext cx="0" cy="329184"/>
          </a:xfrm>
          <a:prstGeom prst="line">
            <a:avLst/>
          </a:prstGeom>
          <a:noFill/>
          <a:ln w="25400">
            <a:solidFill>
              <a:srgbClr val="F2A541"/>
            </a:solidFill>
            <a:prstDash val="dash"/>
          </a:ln>
        </p:spPr>
      </p:sp>
      <p:sp>
        <p:nvSpPr>
          <p:cNvPr id="53" name="Shape 51"/>
          <p:cNvSpPr/>
          <p:nvPr/>
        </p:nvSpPr>
        <p:spPr>
          <a:xfrm>
            <a:off x="5175504" y="2862072"/>
            <a:ext cx="5865876" cy="0"/>
          </a:xfrm>
          <a:prstGeom prst="line">
            <a:avLst/>
          </a:prstGeom>
          <a:noFill/>
          <a:ln w="25400">
            <a:solidFill>
              <a:srgbClr val="F2A541"/>
            </a:solidFill>
            <a:prstDash val="dash"/>
          </a:ln>
        </p:spPr>
      </p:sp>
      <p:sp>
        <p:nvSpPr>
          <p:cNvPr id="54" name="Shape 52"/>
          <p:cNvSpPr/>
          <p:nvPr/>
        </p:nvSpPr>
        <p:spPr>
          <a:xfrm>
            <a:off x="5175504" y="2862072"/>
            <a:ext cx="0" cy="475488"/>
          </a:xfrm>
          <a:prstGeom prst="line">
            <a:avLst/>
          </a:prstGeom>
          <a:noFill/>
          <a:ln w="25400">
            <a:solidFill>
              <a:srgbClr val="F2A541"/>
            </a:solidFill>
            <a:prstDash val="dash"/>
            <a:tailEnd type="triangle"/>
          </a:ln>
        </p:spPr>
      </p:sp>
      <p:sp>
        <p:nvSpPr>
          <p:cNvPr id="55" name="Shape 53"/>
          <p:cNvSpPr/>
          <p:nvPr/>
        </p:nvSpPr>
        <p:spPr>
          <a:xfrm>
            <a:off x="548640" y="4526280"/>
            <a:ext cx="6766560" cy="1417320"/>
          </a:xfrm>
          <a:prstGeom prst="roundRect">
            <a:avLst>
              <a:gd name="adj" fmla="val 7742"/>
            </a:avLst>
          </a:prstGeom>
          <a:solidFill>
            <a:srgbClr val="EEF3F6"/>
          </a:solidFill>
          <a:ln w="6350">
            <a:solidFill>
              <a:srgbClr val="EEF3F6"/>
            </a:solidFill>
            <a:prstDash val="solid"/>
          </a:ln>
        </p:spPr>
      </p:sp>
      <p:sp>
        <p:nvSpPr>
          <p:cNvPr id="56" name="Text 54"/>
          <p:cNvSpPr txBox="1"/>
          <p:nvPr/>
        </p:nvSpPr>
        <p:spPr>
          <a:xfrm>
            <a:off x="777240" y="4645152"/>
            <a:ext cx="6400800" cy="320040"/>
          </a:xfrm>
          <a:prstGeom prst="rect">
            <a:avLst/>
          </a:prstGeom>
          <a:noFill/>
          <a:ln/>
        </p:spPr>
        <p:txBody>
          <a:bodyPr wrap="square" lIns="0" tIns="0" rIns="0" bIns="0" rtlCol="0" anchor="t"/>
          <a:lstStyle/>
          <a:p>
            <a:pPr indent="0" marL="0">
              <a:buNone/>
            </a:pPr>
            <a:r>
              <a:rPr lang="en-US" sz="1400" b="1" dirty="0">
                <a:solidFill>
                  <a:srgbClr val="13212E"/>
                </a:solidFill>
                <a:latin typeface="Calibri" pitchFamily="34" charset="0"/>
                <a:ea typeface="Calibri" pitchFamily="34" charset="-122"/>
                <a:cs typeface="Calibri" pitchFamily="34" charset="-120"/>
              </a:rPr>
              <a:t>LLMClient protocol — one interface, any provider</a:t>
            </a:r>
            <a:endParaRPr lang="en-US" sz="1400" dirty="0"/>
          </a:p>
        </p:txBody>
      </p:sp>
      <p:sp>
        <p:nvSpPr>
          <p:cNvPr id="57" name="Shape 55"/>
          <p:cNvSpPr/>
          <p:nvPr/>
        </p:nvSpPr>
        <p:spPr>
          <a:xfrm>
            <a:off x="777240" y="5074920"/>
            <a:ext cx="2532888" cy="310896"/>
          </a:xfrm>
          <a:prstGeom prst="roundRect">
            <a:avLst>
              <a:gd name="adj" fmla="val 50000"/>
            </a:avLst>
          </a:prstGeom>
          <a:solidFill>
            <a:srgbClr val="0E9F8E"/>
          </a:solidFill>
          <a:ln w="12700">
            <a:solidFill>
              <a:srgbClr val="0E9F8E"/>
            </a:solidFill>
            <a:prstDash val="solid"/>
          </a:ln>
        </p:spPr>
      </p:sp>
      <p:sp>
        <p:nvSpPr>
          <p:cNvPr id="58" name="Text 56"/>
          <p:cNvSpPr txBox="1"/>
          <p:nvPr/>
        </p:nvSpPr>
        <p:spPr>
          <a:xfrm>
            <a:off x="777240" y="5074920"/>
            <a:ext cx="25328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watsonx.ai · Granite (default)</a:t>
            </a:r>
            <a:endParaRPr lang="en-US" sz="1100" dirty="0"/>
          </a:p>
        </p:txBody>
      </p:sp>
      <p:sp>
        <p:nvSpPr>
          <p:cNvPr id="59" name="Shape 57"/>
          <p:cNvSpPr/>
          <p:nvPr/>
        </p:nvSpPr>
        <p:spPr>
          <a:xfrm>
            <a:off x="3447288" y="5074920"/>
            <a:ext cx="900684" cy="310896"/>
          </a:xfrm>
          <a:prstGeom prst="roundRect">
            <a:avLst>
              <a:gd name="adj" fmla="val 50000"/>
            </a:avLst>
          </a:prstGeom>
          <a:solidFill>
            <a:srgbClr val="0B1D2A"/>
          </a:solidFill>
          <a:ln w="12700">
            <a:solidFill>
              <a:srgbClr val="0B1D2A"/>
            </a:solidFill>
            <a:prstDash val="solid"/>
          </a:ln>
        </p:spPr>
      </p:sp>
      <p:sp>
        <p:nvSpPr>
          <p:cNvPr id="60" name="Text 58"/>
          <p:cNvSpPr txBox="1"/>
          <p:nvPr/>
        </p:nvSpPr>
        <p:spPr>
          <a:xfrm>
            <a:off x="3447288" y="5074920"/>
            <a:ext cx="9006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Bob Shell</a:t>
            </a:r>
            <a:endParaRPr lang="en-US" sz="1100" dirty="0"/>
          </a:p>
        </p:txBody>
      </p:sp>
      <p:sp>
        <p:nvSpPr>
          <p:cNvPr id="61" name="Shape 59"/>
          <p:cNvSpPr/>
          <p:nvPr/>
        </p:nvSpPr>
        <p:spPr>
          <a:xfrm>
            <a:off x="4485132" y="5074920"/>
            <a:ext cx="512064" cy="310896"/>
          </a:xfrm>
          <a:prstGeom prst="roundRect">
            <a:avLst>
              <a:gd name="adj" fmla="val 50000"/>
            </a:avLst>
          </a:prstGeom>
          <a:solidFill>
            <a:srgbClr val="FFFFFF"/>
          </a:solidFill>
          <a:ln w="12700">
            <a:solidFill>
              <a:srgbClr val="C9D6E0"/>
            </a:solidFill>
            <a:prstDash val="solid"/>
          </a:ln>
        </p:spPr>
      </p:sp>
      <p:sp>
        <p:nvSpPr>
          <p:cNvPr id="62" name="Text 60"/>
          <p:cNvSpPr txBox="1"/>
          <p:nvPr/>
        </p:nvSpPr>
        <p:spPr>
          <a:xfrm>
            <a:off x="4485132" y="5074920"/>
            <a:ext cx="512064" cy="310896"/>
          </a:xfrm>
          <a:prstGeom prst="rect">
            <a:avLst/>
          </a:prstGeom>
          <a:noFill/>
          <a:ln/>
        </p:spPr>
        <p:txBody>
          <a:bodyPr wrap="square" lIns="0" tIns="0" rIns="0" bIns="0" rtlCol="0" anchor="ctr"/>
          <a:lstStyle/>
          <a:p>
            <a:pPr algn="ctr" indent="0" marL="0">
              <a:buNone/>
            </a:pPr>
            <a:r>
              <a:rPr lang="en-US" sz="1100" b="1" dirty="0">
                <a:solidFill>
                  <a:srgbClr val="13212E"/>
                </a:solidFill>
                <a:latin typeface="Calibri" pitchFamily="34" charset="0"/>
                <a:ea typeface="Calibri" pitchFamily="34" charset="-122"/>
                <a:cs typeface="Calibri" pitchFamily="34" charset="-120"/>
              </a:rPr>
              <a:t>Groq</a:t>
            </a:r>
            <a:endParaRPr lang="en-US" sz="1100" dirty="0"/>
          </a:p>
        </p:txBody>
      </p:sp>
      <p:sp>
        <p:nvSpPr>
          <p:cNvPr id="63" name="Shape 61"/>
          <p:cNvSpPr/>
          <p:nvPr/>
        </p:nvSpPr>
        <p:spPr>
          <a:xfrm>
            <a:off x="5134356" y="5074920"/>
            <a:ext cx="1522476" cy="310896"/>
          </a:xfrm>
          <a:prstGeom prst="roundRect">
            <a:avLst>
              <a:gd name="adj" fmla="val 50000"/>
            </a:avLst>
          </a:prstGeom>
          <a:solidFill>
            <a:srgbClr val="FFFFFF"/>
          </a:solidFill>
          <a:ln w="12700">
            <a:solidFill>
              <a:srgbClr val="C9D6E0"/>
            </a:solidFill>
            <a:prstDash val="solid"/>
          </a:ln>
        </p:spPr>
      </p:sp>
      <p:sp>
        <p:nvSpPr>
          <p:cNvPr id="64" name="Text 62"/>
          <p:cNvSpPr txBox="1"/>
          <p:nvPr/>
        </p:nvSpPr>
        <p:spPr>
          <a:xfrm>
            <a:off x="5134356" y="5074920"/>
            <a:ext cx="1522476" cy="310896"/>
          </a:xfrm>
          <a:prstGeom prst="rect">
            <a:avLst/>
          </a:prstGeom>
          <a:noFill/>
          <a:ln/>
        </p:spPr>
        <p:txBody>
          <a:bodyPr wrap="square" lIns="0" tIns="0" rIns="0" bIns="0" rtlCol="0" anchor="ctr"/>
          <a:lstStyle/>
          <a:p>
            <a:pPr algn="ctr" indent="0" marL="0">
              <a:buNone/>
            </a:pPr>
            <a:r>
              <a:rPr lang="en-US" sz="1100" b="1" dirty="0">
                <a:solidFill>
                  <a:srgbClr val="13212E"/>
                </a:solidFill>
                <a:latin typeface="Calibri" pitchFamily="34" charset="0"/>
                <a:ea typeface="Calibri" pitchFamily="34" charset="-122"/>
                <a:cs typeface="Calibri" pitchFamily="34" charset="-120"/>
              </a:rPr>
              <a:t>OpenAI-compatible</a:t>
            </a:r>
            <a:endParaRPr lang="en-US" sz="1100" dirty="0"/>
          </a:p>
        </p:txBody>
      </p:sp>
      <p:sp>
        <p:nvSpPr>
          <p:cNvPr id="65" name="Shape 63"/>
          <p:cNvSpPr/>
          <p:nvPr/>
        </p:nvSpPr>
        <p:spPr>
          <a:xfrm>
            <a:off x="777240" y="5486400"/>
            <a:ext cx="1755648" cy="310896"/>
          </a:xfrm>
          <a:prstGeom prst="roundRect">
            <a:avLst>
              <a:gd name="adj" fmla="val 50000"/>
            </a:avLst>
          </a:prstGeom>
          <a:solidFill>
            <a:srgbClr val="FFFFFF"/>
          </a:solidFill>
          <a:ln w="12700">
            <a:solidFill>
              <a:srgbClr val="C9D6E0"/>
            </a:solidFill>
            <a:prstDash val="solid"/>
          </a:ln>
        </p:spPr>
      </p:sp>
      <p:sp>
        <p:nvSpPr>
          <p:cNvPr id="66" name="Text 64"/>
          <p:cNvSpPr txBox="1"/>
          <p:nvPr/>
        </p:nvSpPr>
        <p:spPr>
          <a:xfrm>
            <a:off x="777240" y="5486400"/>
            <a:ext cx="1755648" cy="310896"/>
          </a:xfrm>
          <a:prstGeom prst="rect">
            <a:avLst/>
          </a:prstGeom>
          <a:noFill/>
          <a:ln/>
        </p:spPr>
        <p:txBody>
          <a:bodyPr wrap="square" lIns="0" tIns="0" rIns="0" bIns="0" rtlCol="0" anchor="ctr"/>
          <a:lstStyle/>
          <a:p>
            <a:pPr algn="ctr" indent="0" marL="0">
              <a:buNone/>
            </a:pPr>
            <a:r>
              <a:rPr lang="en-US" sz="1100" b="1" dirty="0">
                <a:solidFill>
                  <a:srgbClr val="13212E"/>
                </a:solidFill>
                <a:latin typeface="Calibri" pitchFamily="34" charset="0"/>
                <a:ea typeface="Calibri" pitchFamily="34" charset="-122"/>
                <a:cs typeface="Calibri" pitchFamily="34" charset="-120"/>
              </a:rPr>
              <a:t>Fake (offline tests)</a:t>
            </a:r>
            <a:endParaRPr lang="en-US" sz="1100" dirty="0"/>
          </a:p>
        </p:txBody>
      </p:sp>
      <p:sp>
        <p:nvSpPr>
          <p:cNvPr id="67" name="Shape 65"/>
          <p:cNvSpPr/>
          <p:nvPr/>
        </p:nvSpPr>
        <p:spPr>
          <a:xfrm>
            <a:off x="7589520" y="4526280"/>
            <a:ext cx="4069080" cy="1417320"/>
          </a:xfrm>
          <a:prstGeom prst="roundRect">
            <a:avLst>
              <a:gd name="adj" fmla="val 7742"/>
            </a:avLst>
          </a:prstGeom>
          <a:solidFill>
            <a:srgbClr val="EEF3F6"/>
          </a:solidFill>
          <a:ln w="6350">
            <a:solidFill>
              <a:srgbClr val="EEF3F6"/>
            </a:solidFill>
            <a:prstDash val="solid"/>
          </a:ln>
        </p:spPr>
      </p:sp>
      <p:sp>
        <p:nvSpPr>
          <p:cNvPr id="68" name="Text 66"/>
          <p:cNvSpPr txBox="1"/>
          <p:nvPr/>
        </p:nvSpPr>
        <p:spPr>
          <a:xfrm>
            <a:off x="7818120" y="4645152"/>
            <a:ext cx="3657600" cy="320040"/>
          </a:xfrm>
          <a:prstGeom prst="rect">
            <a:avLst/>
          </a:prstGeom>
          <a:noFill/>
          <a:ln/>
        </p:spPr>
        <p:txBody>
          <a:bodyPr wrap="square" lIns="0" tIns="0" rIns="0" bIns="0" rtlCol="0" anchor="t"/>
          <a:lstStyle/>
          <a:p>
            <a:pPr indent="0" marL="0">
              <a:buNone/>
            </a:pPr>
            <a:r>
              <a:rPr lang="en-US" sz="1400" b="1" dirty="0">
                <a:solidFill>
                  <a:srgbClr val="13212E"/>
                </a:solidFill>
                <a:latin typeface="Calibri" pitchFamily="34" charset="0"/>
                <a:ea typeface="Calibri" pitchFamily="34" charset="-122"/>
                <a:cs typeface="Calibri" pitchFamily="34" charset="-120"/>
              </a:rPr>
              <a:t>Interfaces</a:t>
            </a:r>
            <a:endParaRPr lang="en-US" sz="1400" dirty="0"/>
          </a:p>
        </p:txBody>
      </p:sp>
      <p:sp>
        <p:nvSpPr>
          <p:cNvPr id="69" name="Text 67"/>
          <p:cNvSpPr txBox="1"/>
          <p:nvPr/>
        </p:nvSpPr>
        <p:spPr>
          <a:xfrm>
            <a:off x="7818120" y="5029200"/>
            <a:ext cx="3703320" cy="822960"/>
          </a:xfrm>
          <a:prstGeom prst="rect">
            <a:avLst/>
          </a:prstGeom>
          <a:noFill/>
          <a:ln/>
        </p:spPr>
        <p:txBody>
          <a:bodyPr wrap="square" lIns="0" tIns="0" rIns="0" bIns="0" rtlCol="0" anchor="t"/>
          <a:lstStyle/>
          <a:p>
            <a:pPr indent="0" marL="0">
              <a:buNone/>
            </a:pPr>
            <a:r>
              <a:rPr lang="en-US" sz="1200" dirty="0">
                <a:solidFill>
                  <a:srgbClr val="5B6B7A"/>
                </a:solidFill>
                <a:latin typeface="Courier New" pitchFamily="34" charset="0"/>
                <a:ea typeface="Courier New" pitchFamily="34" charset="-122"/>
                <a:cs typeface="Courier New" pitchFamily="34" charset="-120"/>
              </a:rPr>
              <a:t>FastAPI + web UI · CLI</a:t>
            </a:r>
            <a:endParaRPr lang="en-US" sz="1200" dirty="0"/>
          </a:p>
          <a:p>
            <a:pPr indent="0" marL="0">
              <a:buNone/>
            </a:pPr>
            <a:r>
              <a:rPr lang="en-US" sz="1200" dirty="0">
                <a:solidFill>
                  <a:srgbClr val="5B6B7A"/>
                </a:solidFill>
                <a:latin typeface="Courier New" pitchFamily="34" charset="0"/>
                <a:ea typeface="Courier New" pitchFamily="34" charset="-122"/>
                <a:cs typeface="Courier New" pitchFamily="34" charset="-120"/>
              </a:rPr>
              <a:t>/analyse  /analyse-upload  /jobs  /trace  /graph  /ask</a:t>
            </a:r>
            <a:endParaRPr lang="en-US" sz="1200" dirty="0"/>
          </a:p>
        </p:txBody>
      </p:sp>
      <p:sp>
        <p:nvSpPr>
          <p:cNvPr id="70" name="Text 68"/>
          <p:cNvSpPr txBox="1"/>
          <p:nvPr/>
        </p:nvSpPr>
        <p:spPr>
          <a:xfrm>
            <a:off x="548640" y="6172200"/>
            <a:ext cx="10972800" cy="320040"/>
          </a:xfrm>
          <a:prstGeom prst="rect">
            <a:avLst/>
          </a:prstGeom>
          <a:noFill/>
          <a:ln/>
        </p:spPr>
        <p:txBody>
          <a:bodyPr wrap="square" lIns="0" tIns="0" rIns="0" bIns="0" rtlCol="0" anchor="t"/>
          <a:lstStyle/>
          <a:p>
            <a:pPr indent="0" marL="0">
              <a:buNone/>
            </a:pPr>
            <a:r>
              <a:rPr lang="en-US" sz="1200" i="1" dirty="0">
                <a:solidFill>
                  <a:srgbClr val="5B6B7A"/>
                </a:solidFill>
                <a:latin typeface="Calibri" pitchFamily="34" charset="0"/>
                <a:ea typeface="Calibri" pitchFamily="34" charset="-122"/>
                <a:cs typeface="Calibri" pitchFamily="34" charset="-120"/>
              </a:rPr>
              <a:t>Orchestrator owns order, retries, validation, ids and storage. Agents only return JSON.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9144000" cy="274320"/>
          </a:xfrm>
          <a:prstGeom prst="rect">
            <a:avLst/>
          </a:prstGeom>
          <a:noFill/>
          <a:ln/>
        </p:spPr>
        <p:txBody>
          <a:bodyPr wrap="square" lIns="0" tIns="0" rIns="0" bIns="0" rtlCol="0" anchor="t"/>
          <a:lstStyle/>
          <a:p>
            <a:pPr indent="0" marL="0">
              <a:buNone/>
            </a:pPr>
            <a:r>
              <a:rPr lang="en-US" sz="1100" b="1" spc="300" kern="0" dirty="0">
                <a:solidFill>
                  <a:srgbClr val="0E9F8E"/>
                </a:solidFill>
                <a:latin typeface="Calibri" pitchFamily="34" charset="0"/>
                <a:ea typeface="Calibri" pitchFamily="34" charset="-122"/>
                <a:cs typeface="Calibri" pitchFamily="34" charset="-120"/>
              </a:rPr>
              <a:t>AGENTS AND TOOLS</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13212E"/>
                </a:solidFill>
                <a:latin typeface="Cambria" pitchFamily="34" charset="0"/>
                <a:ea typeface="Cambria" pitchFamily="34" charset="-122"/>
                <a:cs typeface="Cambria" pitchFamily="34" charset="-120"/>
              </a:rPr>
              <a:t>The LLM reasons. Python decides.</a:t>
            </a:r>
            <a:endParaRPr lang="en-US" sz="3400" dirty="0"/>
          </a:p>
        </p:txBody>
      </p:sp>
      <p:sp>
        <p:nvSpPr>
          <p:cNvPr id="4" name="Shape 2"/>
          <p:cNvSpPr/>
          <p:nvPr/>
        </p:nvSpPr>
        <p:spPr>
          <a:xfrm>
            <a:off x="548640" y="1417320"/>
            <a:ext cx="3429000" cy="1371600"/>
          </a:xfrm>
          <a:prstGeom prst="roundRect">
            <a:avLst>
              <a:gd name="adj" fmla="val 8000"/>
            </a:avLst>
          </a:prstGeom>
          <a:solidFill>
            <a:srgbClr val="EEF3F6"/>
          </a:solidFill>
          <a:ln w="6350">
            <a:solidFill>
              <a:srgbClr val="EEF3F6"/>
            </a:solidFill>
            <a:prstDash val="solid"/>
          </a:ln>
        </p:spPr>
      </p:sp>
      <p:sp>
        <p:nvSpPr>
          <p:cNvPr id="5" name="Shape 3"/>
          <p:cNvSpPr/>
          <p:nvPr/>
        </p:nvSpPr>
        <p:spPr>
          <a:xfrm>
            <a:off x="749808" y="1618488"/>
            <a:ext cx="420624" cy="420624"/>
          </a:xfrm>
          <a:prstGeom prst="ellipse">
            <a:avLst/>
          </a:prstGeom>
          <a:solidFill>
            <a:srgbClr val="0E9F8E"/>
          </a:solidFill>
          <a:ln w="6350">
            <a:solidFill>
              <a:srgbClr val="0E9F8E"/>
            </a:solidFill>
            <a:prstDash val="solid"/>
          </a:ln>
        </p:spPr>
      </p:sp>
      <p:sp>
        <p:nvSpPr>
          <p:cNvPr id="6" name="Text 4"/>
          <p:cNvSpPr txBox="1"/>
          <p:nvPr/>
        </p:nvSpPr>
        <p:spPr>
          <a:xfrm>
            <a:off x="1325880" y="1664208"/>
            <a:ext cx="2560320" cy="347472"/>
          </a:xfrm>
          <a:prstGeom prst="rect">
            <a:avLst/>
          </a:prstGeom>
          <a:noFill/>
          <a:ln/>
        </p:spPr>
        <p:txBody>
          <a:bodyPr wrap="square" lIns="0" tIns="0" rIns="0" bIns="0" rtlCol="0" anchor="t"/>
          <a:lstStyle/>
          <a:p>
            <a:pPr indent="0" marL="0">
              <a:buNone/>
            </a:pPr>
            <a:r>
              <a:rPr lang="en-US" sz="1600" b="1" dirty="0">
                <a:solidFill>
                  <a:srgbClr val="13212E"/>
                </a:solidFill>
                <a:latin typeface="Calibri" pitchFamily="34" charset="0"/>
                <a:ea typeface="Calibri" pitchFamily="34" charset="-122"/>
                <a:cs typeface="Calibri" pitchFamily="34" charset="-120"/>
              </a:rPr>
              <a:t>Planner</a:t>
            </a:r>
            <a:endParaRPr lang="en-US" sz="1600" dirty="0"/>
          </a:p>
        </p:txBody>
      </p:sp>
      <p:sp>
        <p:nvSpPr>
          <p:cNvPr id="7" name="Text 5"/>
          <p:cNvSpPr txBox="1"/>
          <p:nvPr/>
        </p:nvSpPr>
        <p:spPr>
          <a:xfrm>
            <a:off x="777240" y="2103120"/>
            <a:ext cx="301752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Sees the whole file tree. Routes each file to code, doc or skip (with a reason) and ranks it 1–3.</a:t>
            </a:r>
            <a:endParaRPr lang="en-US" sz="1200" dirty="0"/>
          </a:p>
        </p:txBody>
      </p:sp>
      <p:sp>
        <p:nvSpPr>
          <p:cNvPr id="8" name="Shape 6"/>
          <p:cNvSpPr/>
          <p:nvPr/>
        </p:nvSpPr>
        <p:spPr>
          <a:xfrm>
            <a:off x="4160520" y="1417320"/>
            <a:ext cx="3429000" cy="1371600"/>
          </a:xfrm>
          <a:prstGeom prst="roundRect">
            <a:avLst>
              <a:gd name="adj" fmla="val 8000"/>
            </a:avLst>
          </a:prstGeom>
          <a:solidFill>
            <a:srgbClr val="EEF3F6"/>
          </a:solidFill>
          <a:ln w="6350">
            <a:solidFill>
              <a:srgbClr val="EEF3F6"/>
            </a:solidFill>
            <a:prstDash val="solid"/>
          </a:ln>
        </p:spPr>
      </p:sp>
      <p:sp>
        <p:nvSpPr>
          <p:cNvPr id="9" name="Shape 7"/>
          <p:cNvSpPr/>
          <p:nvPr/>
        </p:nvSpPr>
        <p:spPr>
          <a:xfrm>
            <a:off x="4361688" y="1618488"/>
            <a:ext cx="420624" cy="420624"/>
          </a:xfrm>
          <a:prstGeom prst="ellipse">
            <a:avLst/>
          </a:prstGeom>
          <a:solidFill>
            <a:srgbClr val="0E9F8E"/>
          </a:solidFill>
          <a:ln w="6350">
            <a:solidFill>
              <a:srgbClr val="0E9F8E"/>
            </a:solidFill>
            <a:prstDash val="solid"/>
          </a:ln>
        </p:spPr>
      </p:sp>
      <p:sp>
        <p:nvSpPr>
          <p:cNvPr id="10" name="Text 8"/>
          <p:cNvSpPr txBox="1"/>
          <p:nvPr/>
        </p:nvSpPr>
        <p:spPr>
          <a:xfrm>
            <a:off x="4937760" y="1664208"/>
            <a:ext cx="2560320" cy="347472"/>
          </a:xfrm>
          <a:prstGeom prst="rect">
            <a:avLst/>
          </a:prstGeom>
          <a:noFill/>
          <a:ln/>
        </p:spPr>
        <p:txBody>
          <a:bodyPr wrap="square" lIns="0" tIns="0" rIns="0" bIns="0" rtlCol="0" anchor="t"/>
          <a:lstStyle/>
          <a:p>
            <a:pPr indent="0" marL="0">
              <a:buNone/>
            </a:pPr>
            <a:r>
              <a:rPr lang="en-US" sz="1600" b="1" dirty="0">
                <a:solidFill>
                  <a:srgbClr val="13212E"/>
                </a:solidFill>
                <a:latin typeface="Calibri" pitchFamily="34" charset="0"/>
                <a:ea typeface="Calibri" pitchFamily="34" charset="-122"/>
                <a:cs typeface="Calibri" pitchFamily="34" charset="-120"/>
              </a:rPr>
              <a:t>Code agent</a:t>
            </a:r>
            <a:endParaRPr lang="en-US" sz="1600" dirty="0"/>
          </a:p>
        </p:txBody>
      </p:sp>
      <p:sp>
        <p:nvSpPr>
          <p:cNvPr id="11" name="Text 9"/>
          <p:cNvSpPr txBox="1"/>
          <p:nvPr/>
        </p:nvSpPr>
        <p:spPr>
          <a:xfrm>
            <a:off x="4389120" y="2103120"/>
            <a:ext cx="301752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Turns a source file into typed nodes (modules, classes, functions) with line ranges.</a:t>
            </a:r>
            <a:endParaRPr lang="en-US" sz="1200" dirty="0"/>
          </a:p>
        </p:txBody>
      </p:sp>
      <p:sp>
        <p:nvSpPr>
          <p:cNvPr id="12" name="Shape 10"/>
          <p:cNvSpPr/>
          <p:nvPr/>
        </p:nvSpPr>
        <p:spPr>
          <a:xfrm>
            <a:off x="548640" y="2971800"/>
            <a:ext cx="3429000" cy="1371600"/>
          </a:xfrm>
          <a:prstGeom prst="roundRect">
            <a:avLst>
              <a:gd name="adj" fmla="val 8000"/>
            </a:avLst>
          </a:prstGeom>
          <a:solidFill>
            <a:srgbClr val="EEF3F6"/>
          </a:solidFill>
          <a:ln w="6350">
            <a:solidFill>
              <a:srgbClr val="EEF3F6"/>
            </a:solidFill>
            <a:prstDash val="solid"/>
          </a:ln>
        </p:spPr>
      </p:sp>
      <p:sp>
        <p:nvSpPr>
          <p:cNvPr id="13" name="Shape 11"/>
          <p:cNvSpPr/>
          <p:nvPr/>
        </p:nvSpPr>
        <p:spPr>
          <a:xfrm>
            <a:off x="749808" y="3172968"/>
            <a:ext cx="420624" cy="420624"/>
          </a:xfrm>
          <a:prstGeom prst="ellipse">
            <a:avLst/>
          </a:prstGeom>
          <a:solidFill>
            <a:srgbClr val="0E9F8E"/>
          </a:solidFill>
          <a:ln w="6350">
            <a:solidFill>
              <a:srgbClr val="0E9F8E"/>
            </a:solidFill>
            <a:prstDash val="solid"/>
          </a:ln>
        </p:spPr>
      </p:sp>
      <p:sp>
        <p:nvSpPr>
          <p:cNvPr id="14" name="Text 12"/>
          <p:cNvSpPr txBox="1"/>
          <p:nvPr/>
        </p:nvSpPr>
        <p:spPr>
          <a:xfrm>
            <a:off x="1325880" y="3218688"/>
            <a:ext cx="2560320" cy="347472"/>
          </a:xfrm>
          <a:prstGeom prst="rect">
            <a:avLst/>
          </a:prstGeom>
          <a:noFill/>
          <a:ln/>
        </p:spPr>
        <p:txBody>
          <a:bodyPr wrap="square" lIns="0" tIns="0" rIns="0" bIns="0" rtlCol="0" anchor="t"/>
          <a:lstStyle/>
          <a:p>
            <a:pPr indent="0" marL="0">
              <a:buNone/>
            </a:pPr>
            <a:r>
              <a:rPr lang="en-US" sz="1600" b="1" dirty="0">
                <a:solidFill>
                  <a:srgbClr val="13212E"/>
                </a:solidFill>
                <a:latin typeface="Calibri" pitchFamily="34" charset="0"/>
                <a:ea typeface="Calibri" pitchFamily="34" charset="-122"/>
                <a:cs typeface="Calibri" pitchFamily="34" charset="-120"/>
              </a:rPr>
              <a:t>Doc agent</a:t>
            </a:r>
            <a:endParaRPr lang="en-US" sz="1600" dirty="0"/>
          </a:p>
        </p:txBody>
      </p:sp>
      <p:sp>
        <p:nvSpPr>
          <p:cNvPr id="15" name="Text 13"/>
          <p:cNvSpPr txBox="1"/>
          <p:nvPr/>
        </p:nvSpPr>
        <p:spPr>
          <a:xfrm>
            <a:off x="777240" y="3657600"/>
            <a:ext cx="301752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Turns prose, configs and schemas into concepts and the code they describe.</a:t>
            </a:r>
            <a:endParaRPr lang="en-US" sz="1200" dirty="0"/>
          </a:p>
        </p:txBody>
      </p:sp>
      <p:sp>
        <p:nvSpPr>
          <p:cNvPr id="16" name="Shape 14"/>
          <p:cNvSpPr/>
          <p:nvPr/>
        </p:nvSpPr>
        <p:spPr>
          <a:xfrm>
            <a:off x="4160520" y="2971800"/>
            <a:ext cx="3429000" cy="1371600"/>
          </a:xfrm>
          <a:prstGeom prst="roundRect">
            <a:avLst>
              <a:gd name="adj" fmla="val 8000"/>
            </a:avLst>
          </a:prstGeom>
          <a:solidFill>
            <a:srgbClr val="EEF3F6"/>
          </a:solidFill>
          <a:ln w="6350">
            <a:solidFill>
              <a:srgbClr val="EEF3F6"/>
            </a:solidFill>
            <a:prstDash val="solid"/>
          </a:ln>
        </p:spPr>
      </p:sp>
      <p:sp>
        <p:nvSpPr>
          <p:cNvPr id="17" name="Shape 15"/>
          <p:cNvSpPr/>
          <p:nvPr/>
        </p:nvSpPr>
        <p:spPr>
          <a:xfrm>
            <a:off x="4361688" y="3172968"/>
            <a:ext cx="420624" cy="420624"/>
          </a:xfrm>
          <a:prstGeom prst="ellipse">
            <a:avLst/>
          </a:prstGeom>
          <a:solidFill>
            <a:srgbClr val="0E9F8E"/>
          </a:solidFill>
          <a:ln w="6350">
            <a:solidFill>
              <a:srgbClr val="0E9F8E"/>
            </a:solidFill>
            <a:prstDash val="solid"/>
          </a:ln>
        </p:spPr>
      </p:sp>
      <p:sp>
        <p:nvSpPr>
          <p:cNvPr id="18" name="Text 16"/>
          <p:cNvSpPr txBox="1"/>
          <p:nvPr/>
        </p:nvSpPr>
        <p:spPr>
          <a:xfrm>
            <a:off x="4937760" y="3218688"/>
            <a:ext cx="2560320" cy="347472"/>
          </a:xfrm>
          <a:prstGeom prst="rect">
            <a:avLst/>
          </a:prstGeom>
          <a:noFill/>
          <a:ln/>
        </p:spPr>
        <p:txBody>
          <a:bodyPr wrap="square" lIns="0" tIns="0" rIns="0" bIns="0" rtlCol="0" anchor="t"/>
          <a:lstStyle/>
          <a:p>
            <a:pPr indent="0" marL="0">
              <a:buNone/>
            </a:pPr>
            <a:r>
              <a:rPr lang="en-US" sz="1600" b="1" dirty="0">
                <a:solidFill>
                  <a:srgbClr val="13212E"/>
                </a:solidFill>
                <a:latin typeface="Calibri" pitchFamily="34" charset="0"/>
                <a:ea typeface="Calibri" pitchFamily="34" charset="-122"/>
                <a:cs typeface="Calibri" pitchFamily="34" charset="-120"/>
              </a:rPr>
              <a:t>Linker</a:t>
            </a:r>
            <a:endParaRPr lang="en-US" sz="1600" dirty="0"/>
          </a:p>
        </p:txBody>
      </p:sp>
      <p:sp>
        <p:nvSpPr>
          <p:cNvPr id="19" name="Text 17"/>
          <p:cNvSpPr txBox="1"/>
          <p:nvPr/>
        </p:nvSpPr>
        <p:spPr>
          <a:xfrm>
            <a:off x="4389120" y="3657600"/>
            <a:ext cx="301752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Resolves references across files, merges duplicates, drops what cannot be resolved.</a:t>
            </a:r>
            <a:endParaRPr lang="en-US" sz="1200" dirty="0"/>
          </a:p>
        </p:txBody>
      </p:sp>
      <p:sp>
        <p:nvSpPr>
          <p:cNvPr id="20" name="Shape 18"/>
          <p:cNvSpPr/>
          <p:nvPr/>
        </p:nvSpPr>
        <p:spPr>
          <a:xfrm>
            <a:off x="548640" y="4526280"/>
            <a:ext cx="3429000" cy="1371600"/>
          </a:xfrm>
          <a:prstGeom prst="roundRect">
            <a:avLst>
              <a:gd name="adj" fmla="val 8000"/>
            </a:avLst>
          </a:prstGeom>
          <a:solidFill>
            <a:srgbClr val="EEF3F6"/>
          </a:solidFill>
          <a:ln w="6350">
            <a:solidFill>
              <a:srgbClr val="EEF3F6"/>
            </a:solidFill>
            <a:prstDash val="solid"/>
          </a:ln>
        </p:spPr>
      </p:sp>
      <p:sp>
        <p:nvSpPr>
          <p:cNvPr id="21" name="Shape 19"/>
          <p:cNvSpPr/>
          <p:nvPr/>
        </p:nvSpPr>
        <p:spPr>
          <a:xfrm>
            <a:off x="749808" y="4727448"/>
            <a:ext cx="420624" cy="420624"/>
          </a:xfrm>
          <a:prstGeom prst="ellipse">
            <a:avLst/>
          </a:prstGeom>
          <a:solidFill>
            <a:srgbClr val="0E9F8E"/>
          </a:solidFill>
          <a:ln w="6350">
            <a:solidFill>
              <a:srgbClr val="0E9F8E"/>
            </a:solidFill>
            <a:prstDash val="solid"/>
          </a:ln>
        </p:spPr>
      </p:sp>
      <p:sp>
        <p:nvSpPr>
          <p:cNvPr id="22" name="Text 20"/>
          <p:cNvSpPr txBox="1"/>
          <p:nvPr/>
        </p:nvSpPr>
        <p:spPr>
          <a:xfrm>
            <a:off x="1325880" y="4773168"/>
            <a:ext cx="2560320" cy="347472"/>
          </a:xfrm>
          <a:prstGeom prst="rect">
            <a:avLst/>
          </a:prstGeom>
          <a:noFill/>
          <a:ln/>
        </p:spPr>
        <p:txBody>
          <a:bodyPr wrap="square" lIns="0" tIns="0" rIns="0" bIns="0" rtlCol="0" anchor="t"/>
          <a:lstStyle/>
          <a:p>
            <a:pPr indent="0" marL="0">
              <a:buNone/>
            </a:pPr>
            <a:r>
              <a:rPr lang="en-US" sz="1600" b="1" dirty="0">
                <a:solidFill>
                  <a:srgbClr val="13212E"/>
                </a:solidFill>
                <a:latin typeface="Calibri" pitchFamily="34" charset="0"/>
                <a:ea typeface="Calibri" pitchFamily="34" charset="-122"/>
                <a:cs typeface="Calibri" pitchFamily="34" charset="-120"/>
              </a:rPr>
              <a:t>Answer agent</a:t>
            </a:r>
            <a:endParaRPr lang="en-US" sz="1600" dirty="0"/>
          </a:p>
        </p:txBody>
      </p:sp>
      <p:sp>
        <p:nvSpPr>
          <p:cNvPr id="23" name="Text 21"/>
          <p:cNvSpPr txBox="1"/>
          <p:nvPr/>
        </p:nvSpPr>
        <p:spPr>
          <a:xfrm>
            <a:off x="777240" y="5212080"/>
            <a:ext cx="301752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Answers only from the retrieved subgraph and cites node ids.</a:t>
            </a:r>
            <a:endParaRPr lang="en-US" sz="1200" dirty="0"/>
          </a:p>
        </p:txBody>
      </p:sp>
      <p:sp>
        <p:nvSpPr>
          <p:cNvPr id="24" name="Shape 22"/>
          <p:cNvSpPr/>
          <p:nvPr/>
        </p:nvSpPr>
        <p:spPr>
          <a:xfrm>
            <a:off x="7863840" y="1417320"/>
            <a:ext cx="3794760" cy="4480560"/>
          </a:xfrm>
          <a:prstGeom prst="roundRect">
            <a:avLst>
              <a:gd name="adj" fmla="val 2892"/>
            </a:avLst>
          </a:prstGeom>
          <a:solidFill>
            <a:srgbClr val="0B1D2A"/>
          </a:solidFill>
          <a:ln w="6350">
            <a:solidFill>
              <a:srgbClr val="0B1D2A"/>
            </a:solidFill>
            <a:prstDash val="solid"/>
          </a:ln>
        </p:spPr>
      </p:sp>
      <p:sp>
        <p:nvSpPr>
          <p:cNvPr id="25" name="Text 23"/>
          <p:cNvSpPr txBox="1"/>
          <p:nvPr/>
        </p:nvSpPr>
        <p:spPr>
          <a:xfrm>
            <a:off x="8138160" y="1645920"/>
            <a:ext cx="3383280" cy="365760"/>
          </a:xfrm>
          <a:prstGeom prst="rect">
            <a:avLst/>
          </a:prstGeom>
          <a:noFill/>
          <a:ln/>
        </p:spPr>
        <p:txBody>
          <a:bodyPr wrap="square" lIns="0" tIns="0" rIns="0" bIns="0" rtlCol="0" anchor="t"/>
          <a:lstStyle/>
          <a:p>
            <a:pPr indent="0" marL="0">
              <a:buNone/>
            </a:pPr>
            <a:r>
              <a:rPr lang="en-US" sz="1700" b="1" dirty="0">
                <a:solidFill>
                  <a:srgbClr val="F2A541"/>
                </a:solidFill>
                <a:latin typeface="Calibri" pitchFamily="34" charset="0"/>
                <a:ea typeface="Calibri" pitchFamily="34" charset="-122"/>
                <a:cs typeface="Calibri" pitchFamily="34" charset="-120"/>
              </a:rPr>
              <a:t>Deterministic tools</a:t>
            </a:r>
            <a:endParaRPr lang="en-US" sz="1700" dirty="0"/>
          </a:p>
        </p:txBody>
      </p:sp>
      <p:sp>
        <p:nvSpPr>
          <p:cNvPr id="26" name="Text 24"/>
          <p:cNvSpPr txBox="1"/>
          <p:nvPr/>
        </p:nvSpPr>
        <p:spPr>
          <a:xfrm>
            <a:off x="8138160" y="2148840"/>
            <a:ext cx="3383280" cy="274320"/>
          </a:xfrm>
          <a:prstGeom prst="rect">
            <a:avLst/>
          </a:prstGeom>
          <a:noFill/>
          <a:ln/>
        </p:spPr>
        <p:txBody>
          <a:bodyPr wrap="square" lIns="0" tIns="0" rIns="0" bIns="0" rtlCol="0" anchor="t"/>
          <a:lstStyle/>
          <a:p>
            <a:pPr indent="0" marL="0">
              <a:buNone/>
            </a:pPr>
            <a:r>
              <a:rPr lang="en-US" sz="1250" b="1" dirty="0">
                <a:solidFill>
                  <a:srgbClr val="FFFFFF"/>
                </a:solidFill>
                <a:latin typeface="Courier New" pitchFamily="34" charset="0"/>
                <a:ea typeface="Courier New" pitchFamily="34" charset="-122"/>
                <a:cs typeface="Courier New" pitchFamily="34" charset="-120"/>
              </a:rPr>
              <a:t>resolve_source · walk_files</a:t>
            </a:r>
            <a:endParaRPr lang="en-US" sz="1250" dirty="0"/>
          </a:p>
        </p:txBody>
      </p:sp>
      <p:sp>
        <p:nvSpPr>
          <p:cNvPr id="27" name="Text 25"/>
          <p:cNvSpPr txBox="1"/>
          <p:nvPr/>
        </p:nvSpPr>
        <p:spPr>
          <a:xfrm>
            <a:off x="8138160" y="2423160"/>
            <a:ext cx="3383280" cy="274320"/>
          </a:xfrm>
          <a:prstGeom prst="rect">
            <a:avLst/>
          </a:prstGeom>
          <a:noFill/>
          <a:ln/>
        </p:spPr>
        <p:txBody>
          <a:bodyPr wrap="square" lIns="0" tIns="0" rIns="0" bIns="0" rtlCol="0" anchor="t"/>
          <a:lstStyle/>
          <a:p>
            <a:pPr indent="0" marL="0">
              <a:buNone/>
            </a:pPr>
            <a:r>
              <a:rPr lang="en-US" sz="1150" dirty="0">
                <a:solidFill>
                  <a:srgbClr val="C9D6E0"/>
                </a:solidFill>
                <a:latin typeface="Calibri" pitchFamily="34" charset="0"/>
                <a:ea typeface="Calibri" pitchFamily="34" charset="-122"/>
                <a:cs typeface="Calibri" pitchFamily="34" charset="-120"/>
              </a:rPr>
              <a:t>clone or unzip, list files</a:t>
            </a:r>
            <a:endParaRPr lang="en-US" sz="1150" dirty="0"/>
          </a:p>
        </p:txBody>
      </p:sp>
      <p:sp>
        <p:nvSpPr>
          <p:cNvPr id="28" name="Text 26"/>
          <p:cNvSpPr txBox="1"/>
          <p:nvPr/>
        </p:nvSpPr>
        <p:spPr>
          <a:xfrm>
            <a:off x="8138160" y="2761488"/>
            <a:ext cx="3383280" cy="274320"/>
          </a:xfrm>
          <a:prstGeom prst="rect">
            <a:avLst/>
          </a:prstGeom>
          <a:noFill/>
          <a:ln/>
        </p:spPr>
        <p:txBody>
          <a:bodyPr wrap="square" lIns="0" tIns="0" rIns="0" bIns="0" rtlCol="0" anchor="t"/>
          <a:lstStyle/>
          <a:p>
            <a:pPr indent="0" marL="0">
              <a:buNone/>
            </a:pPr>
            <a:r>
              <a:rPr lang="en-US" sz="1250" b="1" dirty="0">
                <a:solidFill>
                  <a:srgbClr val="FFFFFF"/>
                </a:solidFill>
                <a:latin typeface="Courier New" pitchFamily="34" charset="0"/>
                <a:ea typeface="Courier New" pitchFamily="34" charset="-122"/>
                <a:cs typeface="Courier New" pitchFamily="34" charset="-120"/>
              </a:rPr>
              <a:t>read_file</a:t>
            </a:r>
            <a:endParaRPr lang="en-US" sz="1250" dirty="0"/>
          </a:p>
        </p:txBody>
      </p:sp>
      <p:sp>
        <p:nvSpPr>
          <p:cNvPr id="29" name="Text 27"/>
          <p:cNvSpPr txBox="1"/>
          <p:nvPr/>
        </p:nvSpPr>
        <p:spPr>
          <a:xfrm>
            <a:off x="8138160" y="3035808"/>
            <a:ext cx="3383280" cy="274320"/>
          </a:xfrm>
          <a:prstGeom prst="rect">
            <a:avLst/>
          </a:prstGeom>
          <a:noFill/>
          <a:ln/>
        </p:spPr>
        <p:txBody>
          <a:bodyPr wrap="square" lIns="0" tIns="0" rIns="0" bIns="0" rtlCol="0" anchor="t"/>
          <a:lstStyle/>
          <a:p>
            <a:pPr indent="0" marL="0">
              <a:buNone/>
            </a:pPr>
            <a:r>
              <a:rPr lang="en-US" sz="1150" dirty="0">
                <a:solidFill>
                  <a:srgbClr val="C9D6E0"/>
                </a:solidFill>
                <a:latin typeface="Calibri" pitchFamily="34" charset="0"/>
                <a:ea typeface="Calibri" pitchFamily="34" charset="-122"/>
                <a:cs typeface="Calibri" pitchFamily="34" charset="-120"/>
              </a:rPr>
              <a:t>path-traversal checked</a:t>
            </a:r>
            <a:endParaRPr lang="en-US" sz="1150" dirty="0"/>
          </a:p>
        </p:txBody>
      </p:sp>
      <p:sp>
        <p:nvSpPr>
          <p:cNvPr id="30" name="Text 28"/>
          <p:cNvSpPr txBox="1"/>
          <p:nvPr/>
        </p:nvSpPr>
        <p:spPr>
          <a:xfrm>
            <a:off x="8138160" y="3374136"/>
            <a:ext cx="3383280" cy="274320"/>
          </a:xfrm>
          <a:prstGeom prst="rect">
            <a:avLst/>
          </a:prstGeom>
          <a:noFill/>
          <a:ln/>
        </p:spPr>
        <p:txBody>
          <a:bodyPr wrap="square" lIns="0" tIns="0" rIns="0" bIns="0" rtlCol="0" anchor="t"/>
          <a:lstStyle/>
          <a:p>
            <a:pPr indent="0" marL="0">
              <a:buNone/>
            </a:pPr>
            <a:r>
              <a:rPr lang="en-US" sz="1250" b="1" dirty="0">
                <a:solidFill>
                  <a:srgbClr val="FFFFFF"/>
                </a:solidFill>
                <a:latin typeface="Courier New" pitchFamily="34" charset="0"/>
                <a:ea typeface="Courier New" pitchFamily="34" charset="-122"/>
                <a:cs typeface="Courier New" pitchFamily="34" charset="-120"/>
              </a:rPr>
              <a:t>search · find_references</a:t>
            </a:r>
            <a:endParaRPr lang="en-US" sz="1250" dirty="0"/>
          </a:p>
        </p:txBody>
      </p:sp>
      <p:sp>
        <p:nvSpPr>
          <p:cNvPr id="31" name="Text 29"/>
          <p:cNvSpPr txBox="1"/>
          <p:nvPr/>
        </p:nvSpPr>
        <p:spPr>
          <a:xfrm>
            <a:off x="8138160" y="3648456"/>
            <a:ext cx="3383280" cy="274320"/>
          </a:xfrm>
          <a:prstGeom prst="rect">
            <a:avLst/>
          </a:prstGeom>
          <a:noFill/>
          <a:ln/>
        </p:spPr>
        <p:txBody>
          <a:bodyPr wrap="square" lIns="0" tIns="0" rIns="0" bIns="0" rtlCol="0" anchor="t"/>
          <a:lstStyle/>
          <a:p>
            <a:pPr indent="0" marL="0">
              <a:buNone/>
            </a:pPr>
            <a:r>
              <a:rPr lang="en-US" sz="1150" dirty="0">
                <a:solidFill>
                  <a:srgbClr val="C9D6E0"/>
                </a:solidFill>
                <a:latin typeface="Calibri" pitchFamily="34" charset="0"/>
                <a:ea typeface="Calibri" pitchFamily="34" charset="-122"/>
                <a:cs typeface="Calibri" pitchFamily="34" charset="-120"/>
              </a:rPr>
              <a:t>ripgrep with Python fallback</a:t>
            </a:r>
            <a:endParaRPr lang="en-US" sz="1150" dirty="0"/>
          </a:p>
        </p:txBody>
      </p:sp>
      <p:sp>
        <p:nvSpPr>
          <p:cNvPr id="32" name="Text 30"/>
          <p:cNvSpPr txBox="1"/>
          <p:nvPr/>
        </p:nvSpPr>
        <p:spPr>
          <a:xfrm>
            <a:off x="8138160" y="3986784"/>
            <a:ext cx="3383280" cy="274320"/>
          </a:xfrm>
          <a:prstGeom prst="rect">
            <a:avLst/>
          </a:prstGeom>
          <a:noFill/>
          <a:ln/>
        </p:spPr>
        <p:txBody>
          <a:bodyPr wrap="square" lIns="0" tIns="0" rIns="0" bIns="0" rtlCol="0" anchor="t"/>
          <a:lstStyle/>
          <a:p>
            <a:pPr indent="0" marL="0">
              <a:buNone/>
            </a:pPr>
            <a:r>
              <a:rPr lang="en-US" sz="1250" b="1" dirty="0">
                <a:solidFill>
                  <a:srgbClr val="FFFFFF"/>
                </a:solidFill>
                <a:latin typeface="Courier New" pitchFamily="34" charset="0"/>
                <a:ea typeface="Courier New" pitchFamily="34" charset="-122"/>
                <a:cs typeface="Courier New" pitchFamily="34" charset="-120"/>
              </a:rPr>
              <a:t>validate_graph</a:t>
            </a:r>
            <a:endParaRPr lang="en-US" sz="1250" dirty="0"/>
          </a:p>
        </p:txBody>
      </p:sp>
      <p:sp>
        <p:nvSpPr>
          <p:cNvPr id="33" name="Text 31"/>
          <p:cNvSpPr txBox="1"/>
          <p:nvPr/>
        </p:nvSpPr>
        <p:spPr>
          <a:xfrm>
            <a:off x="8138160" y="4261104"/>
            <a:ext cx="3383280" cy="274320"/>
          </a:xfrm>
          <a:prstGeom prst="rect">
            <a:avLst/>
          </a:prstGeom>
          <a:noFill/>
          <a:ln/>
        </p:spPr>
        <p:txBody>
          <a:bodyPr wrap="square" lIns="0" tIns="0" rIns="0" bIns="0" rtlCol="0" anchor="t"/>
          <a:lstStyle/>
          <a:p>
            <a:pPr indent="0" marL="0">
              <a:buNone/>
            </a:pPr>
            <a:r>
              <a:rPr lang="en-US" sz="1150" dirty="0">
                <a:solidFill>
                  <a:srgbClr val="C9D6E0"/>
                </a:solidFill>
                <a:latin typeface="Calibri" pitchFamily="34" charset="0"/>
                <a:ea typeface="Calibri" pitchFamily="34" charset="-122"/>
                <a:cs typeface="Calibri" pitchFamily="34" charset="-120"/>
              </a:rPr>
              <a:t>rejects impossible line ranges</a:t>
            </a:r>
            <a:endParaRPr lang="en-US" sz="1150" dirty="0"/>
          </a:p>
        </p:txBody>
      </p:sp>
      <p:sp>
        <p:nvSpPr>
          <p:cNvPr id="34" name="Text 32"/>
          <p:cNvSpPr txBox="1"/>
          <p:nvPr/>
        </p:nvSpPr>
        <p:spPr>
          <a:xfrm>
            <a:off x="8138160" y="4599432"/>
            <a:ext cx="3383280" cy="274320"/>
          </a:xfrm>
          <a:prstGeom prst="rect">
            <a:avLst/>
          </a:prstGeom>
          <a:noFill/>
          <a:ln/>
        </p:spPr>
        <p:txBody>
          <a:bodyPr wrap="square" lIns="0" tIns="0" rIns="0" bIns="0" rtlCol="0" anchor="t"/>
          <a:lstStyle/>
          <a:p>
            <a:pPr indent="0" marL="0">
              <a:buNone/>
            </a:pPr>
            <a:r>
              <a:rPr lang="en-US" sz="1250" b="1" dirty="0">
                <a:solidFill>
                  <a:srgbClr val="FFFFFF"/>
                </a:solidFill>
                <a:latin typeface="Courier New" pitchFamily="34" charset="0"/>
                <a:ea typeface="Courier New" pitchFamily="34" charset="-122"/>
                <a:cs typeface="Courier New" pitchFamily="34" charset="-120"/>
              </a:rPr>
              <a:t>assign_ids</a:t>
            </a:r>
            <a:endParaRPr lang="en-US" sz="1250" dirty="0"/>
          </a:p>
        </p:txBody>
      </p:sp>
      <p:sp>
        <p:nvSpPr>
          <p:cNvPr id="35" name="Text 33"/>
          <p:cNvSpPr txBox="1"/>
          <p:nvPr/>
        </p:nvSpPr>
        <p:spPr>
          <a:xfrm>
            <a:off x="8138160" y="4873752"/>
            <a:ext cx="3383280" cy="274320"/>
          </a:xfrm>
          <a:prstGeom prst="rect">
            <a:avLst/>
          </a:prstGeom>
          <a:noFill/>
          <a:ln/>
        </p:spPr>
        <p:txBody>
          <a:bodyPr wrap="square" lIns="0" tIns="0" rIns="0" bIns="0" rtlCol="0" anchor="t"/>
          <a:lstStyle/>
          <a:p>
            <a:pPr indent="0" marL="0">
              <a:buNone/>
            </a:pPr>
            <a:r>
              <a:rPr lang="en-US" sz="1150" dirty="0">
                <a:solidFill>
                  <a:srgbClr val="C9D6E0"/>
                </a:solidFill>
                <a:latin typeface="Calibri" pitchFamily="34" charset="0"/>
                <a:ea typeface="Calibri" pitchFamily="34" charset="-122"/>
                <a:cs typeface="Calibri" pitchFamily="34" charset="-120"/>
              </a:rPr>
              <a:t>stable SHA-1 ids per run</a:t>
            </a:r>
            <a:endParaRPr lang="en-US" sz="1150" dirty="0"/>
          </a:p>
        </p:txBody>
      </p:sp>
      <p:sp>
        <p:nvSpPr>
          <p:cNvPr id="36" name="Text 34"/>
          <p:cNvSpPr txBox="1"/>
          <p:nvPr/>
        </p:nvSpPr>
        <p:spPr>
          <a:xfrm>
            <a:off x="8138160" y="5212080"/>
            <a:ext cx="3383280" cy="274320"/>
          </a:xfrm>
          <a:prstGeom prst="rect">
            <a:avLst/>
          </a:prstGeom>
          <a:noFill/>
          <a:ln/>
        </p:spPr>
        <p:txBody>
          <a:bodyPr wrap="square" lIns="0" tIns="0" rIns="0" bIns="0" rtlCol="0" anchor="t"/>
          <a:lstStyle/>
          <a:p>
            <a:pPr indent="0" marL="0">
              <a:buNone/>
            </a:pPr>
            <a:r>
              <a:rPr lang="en-US" sz="1250" b="1" dirty="0">
                <a:solidFill>
                  <a:srgbClr val="FFFFFF"/>
                </a:solidFill>
                <a:latin typeface="Courier New" pitchFamily="34" charset="0"/>
                <a:ea typeface="Courier New" pitchFamily="34" charset="-122"/>
                <a:cs typeface="Courier New" pitchFamily="34" charset="-120"/>
              </a:rPr>
              <a:t>embed</a:t>
            </a:r>
            <a:endParaRPr lang="en-US" sz="1250" dirty="0"/>
          </a:p>
        </p:txBody>
      </p:sp>
      <p:sp>
        <p:nvSpPr>
          <p:cNvPr id="37" name="Text 35"/>
          <p:cNvSpPr txBox="1"/>
          <p:nvPr/>
        </p:nvSpPr>
        <p:spPr>
          <a:xfrm>
            <a:off x="8138160" y="5486400"/>
            <a:ext cx="3383280" cy="274320"/>
          </a:xfrm>
          <a:prstGeom prst="rect">
            <a:avLst/>
          </a:prstGeom>
          <a:noFill/>
          <a:ln/>
        </p:spPr>
        <p:txBody>
          <a:bodyPr wrap="square" lIns="0" tIns="0" rIns="0" bIns="0" rtlCol="0" anchor="t"/>
          <a:lstStyle/>
          <a:p>
            <a:pPr indent="0" marL="0">
              <a:buNone/>
            </a:pPr>
            <a:r>
              <a:rPr lang="en-US" sz="1150" dirty="0">
                <a:solidFill>
                  <a:srgbClr val="C9D6E0"/>
                </a:solidFill>
                <a:latin typeface="Calibri" pitchFamily="34" charset="0"/>
                <a:ea typeface="Calibri" pitchFamily="34" charset="-122"/>
                <a:cs typeface="Calibri" pitchFamily="34" charset="-120"/>
              </a:rPr>
              <a:t>384-d hashing or MiniLM</a:t>
            </a:r>
            <a:endParaRPr lang="en-US" sz="1150" dirty="0"/>
          </a:p>
        </p:txBody>
      </p:sp>
      <p:sp>
        <p:nvSpPr>
          <p:cNvPr id="38" name="Text 36"/>
          <p:cNvSpPr txBox="1"/>
          <p:nvPr/>
        </p:nvSpPr>
        <p:spPr>
          <a:xfrm>
            <a:off x="4160520" y="4617720"/>
            <a:ext cx="3383280" cy="1097280"/>
          </a:xfrm>
          <a:prstGeom prst="rect">
            <a:avLst/>
          </a:prstGeom>
          <a:noFill/>
          <a:ln/>
        </p:spPr>
        <p:txBody>
          <a:bodyPr wrap="square" lIns="0" tIns="0" rIns="0" bIns="0" rtlCol="0" anchor="t"/>
          <a:lstStyle/>
          <a:p>
            <a:pPr indent="0" marL="0">
              <a:buNone/>
            </a:pPr>
            <a:r>
              <a:rPr lang="en-US" sz="1300" i="1" dirty="0">
                <a:solidFill>
                  <a:srgbClr val="0E9F8E"/>
                </a:solidFill>
                <a:latin typeface="Calibri" pitchFamily="34" charset="0"/>
                <a:ea typeface="Calibri" pitchFamily="34" charset="-122"/>
                <a:cs typeface="Calibri" pitchFamily="34" charset="-120"/>
              </a:rPr>
              <a:t>A malformed reply is retried once, then logged as a failure in the run report. The run keeps going.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2A"/>
        </a:solidFill>
      </p:bgPr>
    </p:bg>
    <p:spTree>
      <p:nvGrpSpPr>
        <p:cNvPr id="1" name=""/>
        <p:cNvGrpSpPr/>
        <p:nvPr/>
      </p:nvGrpSpPr>
      <p:grpSpPr>
        <a:xfrm>
          <a:off x="0" y="0"/>
          <a:ext cx="0" cy="0"/>
          <a:chOff x="0" y="0"/>
          <a:chExt cx="0" cy="0"/>
        </a:xfrm>
      </p:grpSpPr>
      <p:sp>
        <p:nvSpPr>
          <p:cNvPr id="2" name="Text 0"/>
          <p:cNvSpPr txBox="1"/>
          <p:nvPr/>
        </p:nvSpPr>
        <p:spPr>
          <a:xfrm>
            <a:off x="548640" y="182880"/>
            <a:ext cx="9144000" cy="274320"/>
          </a:xfrm>
          <a:prstGeom prst="rect">
            <a:avLst/>
          </a:prstGeom>
          <a:noFill/>
          <a:ln/>
        </p:spPr>
        <p:txBody>
          <a:bodyPr wrap="square" lIns="0" tIns="0" rIns="0" bIns="0" rtlCol="0" anchor="t"/>
          <a:lstStyle/>
          <a:p>
            <a:pPr indent="0" marL="0">
              <a:buNone/>
            </a:pPr>
            <a:r>
              <a:rPr lang="en-US" sz="1100" b="1" spc="300" kern="0" dirty="0">
                <a:solidFill>
                  <a:srgbClr val="F2A541"/>
                </a:solidFill>
                <a:latin typeface="Calibri" pitchFamily="34" charset="0"/>
                <a:ea typeface="Calibri" pitchFamily="34" charset="-122"/>
                <a:cs typeface="Calibri" pitchFamily="34" charset="-120"/>
              </a:rPr>
              <a:t>WHAT MAKES IT DIFFERENT</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 graph that refuses to bluff</a:t>
            </a:r>
            <a:endParaRPr lang="en-US" sz="3400" dirty="0"/>
          </a:p>
        </p:txBody>
      </p:sp>
      <p:sp>
        <p:nvSpPr>
          <p:cNvPr id="4" name="Shape 2"/>
          <p:cNvSpPr/>
          <p:nvPr/>
        </p:nvSpPr>
        <p:spPr>
          <a:xfrm>
            <a:off x="548640" y="1554480"/>
            <a:ext cx="5440680" cy="1965960"/>
          </a:xfrm>
          <a:prstGeom prst="roundRect">
            <a:avLst>
              <a:gd name="adj" fmla="val 5581"/>
            </a:avLst>
          </a:prstGeom>
          <a:solidFill>
            <a:srgbClr val="16324A"/>
          </a:solidFill>
          <a:ln w="6350">
            <a:solidFill>
              <a:srgbClr val="16324A"/>
            </a:solidFill>
            <a:prstDash val="solid"/>
          </a:ln>
        </p:spPr>
      </p:sp>
      <p:sp>
        <p:nvSpPr>
          <p:cNvPr id="5" name="Shape 3"/>
          <p:cNvSpPr/>
          <p:nvPr/>
        </p:nvSpPr>
        <p:spPr>
          <a:xfrm>
            <a:off x="813816" y="1819656"/>
            <a:ext cx="566928" cy="566928"/>
          </a:xfrm>
          <a:prstGeom prst="ellipse">
            <a:avLst/>
          </a:prstGeom>
          <a:solidFill>
            <a:srgbClr val="F2A541"/>
          </a:solidFill>
          <a:ln w="6350">
            <a:solidFill>
              <a:srgbClr val="F2A541"/>
            </a:solidFill>
            <a:prstDash val="solid"/>
          </a:ln>
        </p:spPr>
      </p:sp>
      <p:sp>
        <p:nvSpPr>
          <p:cNvPr id="6" name="Text 4"/>
          <p:cNvSpPr txBox="1"/>
          <p:nvPr/>
        </p:nvSpPr>
        <p:spPr>
          <a:xfrm>
            <a:off x="539496" y="1938528"/>
            <a:ext cx="1115568" cy="329184"/>
          </a:xfrm>
          <a:prstGeom prst="rect">
            <a:avLst/>
          </a:prstGeom>
          <a:noFill/>
          <a:ln/>
        </p:spPr>
        <p:txBody>
          <a:bodyPr wrap="square" lIns="0" tIns="0" rIns="0" bIns="0" rtlCol="0" anchor="ctr"/>
          <a:lstStyle/>
          <a:p>
            <a:pPr algn="ctr" indent="0" marL="0">
              <a:buNone/>
            </a:pPr>
            <a:r>
              <a:rPr lang="en-US" sz="1100" b="1" dirty="0">
                <a:solidFill>
                  <a:srgbClr val="0B1D2A"/>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600200" y="1920240"/>
            <a:ext cx="420624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Fail-closed grounding</a:t>
            </a:r>
            <a:endParaRPr lang="en-US" sz="2000" dirty="0"/>
          </a:p>
        </p:txBody>
      </p:sp>
      <p:sp>
        <p:nvSpPr>
          <p:cNvPr id="8" name="Text 6"/>
          <p:cNvSpPr txBox="1"/>
          <p:nvPr/>
        </p:nvSpPr>
        <p:spPr>
          <a:xfrm>
            <a:off x="914400" y="2514600"/>
            <a:ext cx="4846320" cy="1051560"/>
          </a:xfrm>
          <a:prstGeom prst="rect">
            <a:avLst/>
          </a:prstGeom>
          <a:noFill/>
          <a:ln/>
        </p:spPr>
        <p:txBody>
          <a:bodyPr wrap="square" lIns="0" tIns="0" rIns="0" bIns="0" rtlCol="0" anchor="t"/>
          <a:lstStyle/>
          <a:p>
            <a:pPr indent="0" marL="0">
              <a:buNone/>
            </a:pPr>
            <a:r>
              <a:rPr lang="en-US" sz="1400" dirty="0">
                <a:solidFill>
                  <a:srgbClr val="C9D6E0"/>
                </a:solidFill>
                <a:latin typeface="Calibri" pitchFamily="34" charset="0"/>
                <a:ea typeface="Calibri" pitchFamily="34" charset="-122"/>
                <a:cs typeface="Calibri" pitchFamily="34" charset="-120"/>
              </a:rPr>
              <a:t>If the model cites a node that was not in the retrieved context, the answer comes back grounded=false instead of being shown as fact.</a:t>
            </a:r>
            <a:endParaRPr lang="en-US" sz="1400" dirty="0"/>
          </a:p>
        </p:txBody>
      </p:sp>
      <p:sp>
        <p:nvSpPr>
          <p:cNvPr id="9" name="Shape 7"/>
          <p:cNvSpPr/>
          <p:nvPr/>
        </p:nvSpPr>
        <p:spPr>
          <a:xfrm>
            <a:off x="6172200" y="1554480"/>
            <a:ext cx="5440680" cy="1965960"/>
          </a:xfrm>
          <a:prstGeom prst="roundRect">
            <a:avLst>
              <a:gd name="adj" fmla="val 5581"/>
            </a:avLst>
          </a:prstGeom>
          <a:solidFill>
            <a:srgbClr val="16324A"/>
          </a:solidFill>
          <a:ln w="6350">
            <a:solidFill>
              <a:srgbClr val="16324A"/>
            </a:solidFill>
            <a:prstDash val="solid"/>
          </a:ln>
        </p:spPr>
      </p:sp>
      <p:sp>
        <p:nvSpPr>
          <p:cNvPr id="10" name="Shape 8"/>
          <p:cNvSpPr/>
          <p:nvPr/>
        </p:nvSpPr>
        <p:spPr>
          <a:xfrm>
            <a:off x="6437376" y="1819656"/>
            <a:ext cx="566928" cy="566928"/>
          </a:xfrm>
          <a:prstGeom prst="ellipse">
            <a:avLst/>
          </a:prstGeom>
          <a:solidFill>
            <a:srgbClr val="F2A541"/>
          </a:solidFill>
          <a:ln w="6350">
            <a:solidFill>
              <a:srgbClr val="F2A541"/>
            </a:solidFill>
            <a:prstDash val="solid"/>
          </a:ln>
        </p:spPr>
      </p:sp>
      <p:sp>
        <p:nvSpPr>
          <p:cNvPr id="11" name="Text 9"/>
          <p:cNvSpPr txBox="1"/>
          <p:nvPr/>
        </p:nvSpPr>
        <p:spPr>
          <a:xfrm>
            <a:off x="6163056" y="1938528"/>
            <a:ext cx="1115568" cy="329184"/>
          </a:xfrm>
          <a:prstGeom prst="rect">
            <a:avLst/>
          </a:prstGeom>
          <a:noFill/>
          <a:ln/>
        </p:spPr>
        <p:txBody>
          <a:bodyPr wrap="square" lIns="0" tIns="0" rIns="0" bIns="0" rtlCol="0" anchor="ctr"/>
          <a:lstStyle/>
          <a:p>
            <a:pPr algn="ctr" indent="0" marL="0">
              <a:buNone/>
            </a:pPr>
            <a:r>
              <a:rPr lang="en-US" sz="1100" b="1" dirty="0">
                <a:solidFill>
                  <a:srgbClr val="0B1D2A"/>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7223760" y="1920240"/>
            <a:ext cx="420624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Validated before stored</a:t>
            </a:r>
            <a:endParaRPr lang="en-US" sz="2000" dirty="0"/>
          </a:p>
        </p:txBody>
      </p:sp>
      <p:sp>
        <p:nvSpPr>
          <p:cNvPr id="13" name="Text 11"/>
          <p:cNvSpPr txBox="1"/>
          <p:nvPr/>
        </p:nvSpPr>
        <p:spPr>
          <a:xfrm>
            <a:off x="6537960" y="2514600"/>
            <a:ext cx="4846320" cy="1051560"/>
          </a:xfrm>
          <a:prstGeom prst="rect">
            <a:avLst/>
          </a:prstGeom>
          <a:noFill/>
          <a:ln/>
        </p:spPr>
        <p:txBody>
          <a:bodyPr wrap="square" lIns="0" tIns="0" rIns="0" bIns="0" rtlCol="0" anchor="t"/>
          <a:lstStyle/>
          <a:p>
            <a:pPr indent="0" marL="0">
              <a:buNone/>
            </a:pPr>
            <a:r>
              <a:rPr lang="en-US" sz="1400" dirty="0">
                <a:solidFill>
                  <a:srgbClr val="C9D6E0"/>
                </a:solidFill>
                <a:latin typeface="Calibri" pitchFamily="34" charset="0"/>
                <a:ea typeface="Calibri" pitchFamily="34" charset="-122"/>
                <a:cs typeface="Calibri" pitchFamily="34" charset="-120"/>
              </a:rPr>
              <a:t>Hallucinated line ranges and edges to nodes that do not exist are dropped, and counted in the run report.</a:t>
            </a:r>
            <a:endParaRPr lang="en-US" sz="1400" dirty="0"/>
          </a:p>
        </p:txBody>
      </p:sp>
      <p:sp>
        <p:nvSpPr>
          <p:cNvPr id="14" name="Shape 12"/>
          <p:cNvSpPr/>
          <p:nvPr/>
        </p:nvSpPr>
        <p:spPr>
          <a:xfrm>
            <a:off x="548640" y="3794760"/>
            <a:ext cx="5440680" cy="1965960"/>
          </a:xfrm>
          <a:prstGeom prst="roundRect">
            <a:avLst>
              <a:gd name="adj" fmla="val 5581"/>
            </a:avLst>
          </a:prstGeom>
          <a:solidFill>
            <a:srgbClr val="16324A"/>
          </a:solidFill>
          <a:ln w="6350">
            <a:solidFill>
              <a:srgbClr val="16324A"/>
            </a:solidFill>
            <a:prstDash val="solid"/>
          </a:ln>
        </p:spPr>
      </p:sp>
      <p:sp>
        <p:nvSpPr>
          <p:cNvPr id="15" name="Shape 13"/>
          <p:cNvSpPr/>
          <p:nvPr/>
        </p:nvSpPr>
        <p:spPr>
          <a:xfrm>
            <a:off x="813816" y="4059936"/>
            <a:ext cx="566928" cy="566928"/>
          </a:xfrm>
          <a:prstGeom prst="ellipse">
            <a:avLst/>
          </a:prstGeom>
          <a:solidFill>
            <a:srgbClr val="F2A541"/>
          </a:solidFill>
          <a:ln w="6350">
            <a:solidFill>
              <a:srgbClr val="F2A541"/>
            </a:solidFill>
            <a:prstDash val="solid"/>
          </a:ln>
        </p:spPr>
      </p:sp>
      <p:sp>
        <p:nvSpPr>
          <p:cNvPr id="16" name="Text 14"/>
          <p:cNvSpPr txBox="1"/>
          <p:nvPr/>
        </p:nvSpPr>
        <p:spPr>
          <a:xfrm>
            <a:off x="539496" y="4178808"/>
            <a:ext cx="1115568" cy="329184"/>
          </a:xfrm>
          <a:prstGeom prst="rect">
            <a:avLst/>
          </a:prstGeom>
          <a:noFill/>
          <a:ln/>
        </p:spPr>
        <p:txBody>
          <a:bodyPr wrap="square" lIns="0" tIns="0" rIns="0" bIns="0" rtlCol="0" anchor="ctr"/>
          <a:lstStyle/>
          <a:p>
            <a:pPr algn="ctr" indent="0" marL="0">
              <a:buNone/>
            </a:pPr>
            <a:r>
              <a:rPr lang="en-US" sz="1100" b="1" dirty="0">
                <a:solidFill>
                  <a:srgbClr val="0B1D2A"/>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1600200" y="4160520"/>
            <a:ext cx="420624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Priority-first budget</a:t>
            </a:r>
            <a:endParaRPr lang="en-US" sz="2000" dirty="0"/>
          </a:p>
        </p:txBody>
      </p:sp>
      <p:sp>
        <p:nvSpPr>
          <p:cNvPr id="18" name="Text 16"/>
          <p:cNvSpPr txBox="1"/>
          <p:nvPr/>
        </p:nvSpPr>
        <p:spPr>
          <a:xfrm>
            <a:off x="914400" y="4754880"/>
            <a:ext cx="4846320" cy="1051560"/>
          </a:xfrm>
          <a:prstGeom prst="rect">
            <a:avLst/>
          </a:prstGeom>
          <a:noFill/>
          <a:ln/>
        </p:spPr>
        <p:txBody>
          <a:bodyPr wrap="square" lIns="0" tIns="0" rIns="0" bIns="0" rtlCol="0" anchor="t"/>
          <a:lstStyle/>
          <a:p>
            <a:pPr indent="0" marL="0">
              <a:buNone/>
            </a:pPr>
            <a:r>
              <a:rPr lang="en-US" sz="1400" dirty="0">
                <a:solidFill>
                  <a:srgbClr val="C9D6E0"/>
                </a:solidFill>
                <a:latin typeface="Calibri" pitchFamily="34" charset="0"/>
                <a:ea typeface="Calibri" pitchFamily="34" charset="-122"/>
                <a:cs typeface="Calibri" pitchFamily="34" charset="-120"/>
              </a:rPr>
              <a:t>The Planner sees the whole tree first, so a capped run analyses the entry points rather than the alphabetically first files.</a:t>
            </a:r>
            <a:endParaRPr lang="en-US" sz="1400" dirty="0"/>
          </a:p>
        </p:txBody>
      </p:sp>
      <p:sp>
        <p:nvSpPr>
          <p:cNvPr id="19" name="Shape 17"/>
          <p:cNvSpPr/>
          <p:nvPr/>
        </p:nvSpPr>
        <p:spPr>
          <a:xfrm>
            <a:off x="6172200" y="3794760"/>
            <a:ext cx="5440680" cy="1965960"/>
          </a:xfrm>
          <a:prstGeom prst="roundRect">
            <a:avLst>
              <a:gd name="adj" fmla="val 5581"/>
            </a:avLst>
          </a:prstGeom>
          <a:solidFill>
            <a:srgbClr val="16324A"/>
          </a:solidFill>
          <a:ln w="6350">
            <a:solidFill>
              <a:srgbClr val="16324A"/>
            </a:solidFill>
            <a:prstDash val="solid"/>
          </a:ln>
        </p:spPr>
      </p:sp>
      <p:sp>
        <p:nvSpPr>
          <p:cNvPr id="20" name="Shape 18"/>
          <p:cNvSpPr/>
          <p:nvPr/>
        </p:nvSpPr>
        <p:spPr>
          <a:xfrm>
            <a:off x="6437376" y="4059936"/>
            <a:ext cx="566928" cy="566928"/>
          </a:xfrm>
          <a:prstGeom prst="ellipse">
            <a:avLst/>
          </a:prstGeom>
          <a:solidFill>
            <a:srgbClr val="F2A541"/>
          </a:solidFill>
          <a:ln w="6350">
            <a:solidFill>
              <a:srgbClr val="F2A541"/>
            </a:solidFill>
            <a:prstDash val="solid"/>
          </a:ln>
        </p:spPr>
      </p:sp>
      <p:sp>
        <p:nvSpPr>
          <p:cNvPr id="21" name="Text 19"/>
          <p:cNvSpPr txBox="1"/>
          <p:nvPr/>
        </p:nvSpPr>
        <p:spPr>
          <a:xfrm>
            <a:off x="6163056" y="4178808"/>
            <a:ext cx="1115568" cy="329184"/>
          </a:xfrm>
          <a:prstGeom prst="rect">
            <a:avLst/>
          </a:prstGeom>
          <a:noFill/>
          <a:ln/>
        </p:spPr>
        <p:txBody>
          <a:bodyPr wrap="square" lIns="0" tIns="0" rIns="0" bIns="0" rtlCol="0" anchor="ctr"/>
          <a:lstStyle/>
          <a:p>
            <a:pPr algn="ctr" indent="0" marL="0">
              <a:buNone/>
            </a:pPr>
            <a:r>
              <a:rPr lang="en-US" sz="1100" b="1" dirty="0">
                <a:solidFill>
                  <a:srgbClr val="0B1D2A"/>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7223760" y="4160520"/>
            <a:ext cx="420624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Linked, not listed</a:t>
            </a:r>
            <a:endParaRPr lang="en-US" sz="2000" dirty="0"/>
          </a:p>
        </p:txBody>
      </p:sp>
      <p:sp>
        <p:nvSpPr>
          <p:cNvPr id="23" name="Text 21"/>
          <p:cNvSpPr txBox="1"/>
          <p:nvPr/>
        </p:nvSpPr>
        <p:spPr>
          <a:xfrm>
            <a:off x="6537960" y="4754880"/>
            <a:ext cx="4846320" cy="1051560"/>
          </a:xfrm>
          <a:prstGeom prst="rect">
            <a:avLst/>
          </a:prstGeom>
          <a:noFill/>
          <a:ln/>
        </p:spPr>
        <p:txBody>
          <a:bodyPr wrap="square" lIns="0" tIns="0" rIns="0" bIns="0" rtlCol="0" anchor="t"/>
          <a:lstStyle/>
          <a:p>
            <a:pPr indent="0" marL="0">
              <a:buNone/>
            </a:pPr>
            <a:r>
              <a:rPr lang="en-US" sz="1400" dirty="0">
                <a:solidFill>
                  <a:srgbClr val="C9D6E0"/>
                </a:solidFill>
                <a:latin typeface="Calibri" pitchFamily="34" charset="0"/>
                <a:ea typeface="Calibri" pitchFamily="34" charset="-122"/>
                <a:cs typeface="Calibri" pitchFamily="34" charset="-120"/>
              </a:rPr>
              <a:t>The Linker joins per-file fragments into one connected graph, so questions can cross file boundaries.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9144000" cy="274320"/>
          </a:xfrm>
          <a:prstGeom prst="rect">
            <a:avLst/>
          </a:prstGeom>
          <a:noFill/>
          <a:ln/>
        </p:spPr>
        <p:txBody>
          <a:bodyPr wrap="square" lIns="0" tIns="0" rIns="0" bIns="0" rtlCol="0" anchor="t"/>
          <a:lstStyle/>
          <a:p>
            <a:pPr indent="0" marL="0">
              <a:buNone/>
            </a:pPr>
            <a:r>
              <a:rPr lang="en-US" sz="1100" b="1" spc="300" kern="0" dirty="0">
                <a:solidFill>
                  <a:srgbClr val="0E9F8E"/>
                </a:solidFill>
                <a:latin typeface="Calibri" pitchFamily="34" charset="0"/>
                <a:ea typeface="Calibri" pitchFamily="34" charset="-122"/>
                <a:cs typeface="Calibri" pitchFamily="34" charset="-120"/>
              </a:rPr>
              <a:t>IMPACT</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13212E"/>
                </a:solidFill>
                <a:latin typeface="Cambria" pitchFamily="34" charset="0"/>
                <a:ea typeface="Cambria" pitchFamily="34" charset="-122"/>
                <a:cs typeface="Cambria" pitchFamily="34" charset="-120"/>
              </a:rPr>
              <a:t>Pay for the crawl once, not per question</a:t>
            </a:r>
            <a:endParaRPr lang="en-US" sz="3400" dirty="0"/>
          </a:p>
        </p:txBody>
      </p:sp>
      <p:graphicFrame>
        <p:nvGraphicFramePr>
          <p:cNvPr id="4" name="Chart 0" descr=""/>
          <p:cNvGraphicFramePr/>
          <p:nvPr/>
        </p:nvGraphicFramePr>
        <p:xfrm>
          <a:off x="548640" y="132588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897880"/>
            <a:ext cx="6949440" cy="548640"/>
          </a:xfrm>
          <a:prstGeom prst="rect">
            <a:avLst/>
          </a:prstGeom>
          <a:noFill/>
          <a:ln/>
        </p:spPr>
        <p:txBody>
          <a:bodyPr wrap="square" lIns="0" tIns="0" rIns="0" bIns="0" rtlCol="0" anchor="t"/>
          <a:lstStyle/>
          <a:p>
            <a:pPr indent="0" marL="0">
              <a:buNone/>
            </a:pPr>
            <a:r>
              <a:rPr lang="en-US" sz="1100" i="1" dirty="0">
                <a:solidFill>
                  <a:srgbClr val="5B6B7A"/>
                </a:solidFill>
                <a:latin typeface="Calibri" pitchFamily="34" charset="0"/>
                <a:ea typeface="Calibri" pitchFamily="34" charset="-122"/>
                <a:cs typeface="Calibri" pitchFamily="34" charset="-120"/>
              </a:rPr>
              <a:t>Illustrative model: a 150-file repository (the default ANALYSER_MAX_FILES), where the chat approach re-reads it for each question.</a:t>
            </a:r>
            <a:endParaRPr lang="en-US" sz="1100" dirty="0"/>
          </a:p>
        </p:txBody>
      </p:sp>
      <p:sp>
        <p:nvSpPr>
          <p:cNvPr id="6" name="Shape 3"/>
          <p:cNvSpPr/>
          <p:nvPr/>
        </p:nvSpPr>
        <p:spPr>
          <a:xfrm>
            <a:off x="7863840" y="1325880"/>
            <a:ext cx="3794760" cy="2103120"/>
          </a:xfrm>
          <a:prstGeom prst="roundRect">
            <a:avLst>
              <a:gd name="adj" fmla="val 5217"/>
            </a:avLst>
          </a:prstGeom>
          <a:solidFill>
            <a:srgbClr val="CFEFEA"/>
          </a:solidFill>
          <a:ln w="6350">
            <a:solidFill>
              <a:srgbClr val="CFEFEA"/>
            </a:solidFill>
            <a:prstDash val="solid"/>
          </a:ln>
        </p:spPr>
      </p:sp>
      <p:sp>
        <p:nvSpPr>
          <p:cNvPr id="7" name="Text 4"/>
          <p:cNvSpPr txBox="1"/>
          <p:nvPr/>
        </p:nvSpPr>
        <p:spPr>
          <a:xfrm>
            <a:off x="8138160" y="1463040"/>
            <a:ext cx="3291840" cy="822960"/>
          </a:xfrm>
          <a:prstGeom prst="rect">
            <a:avLst/>
          </a:prstGeom>
          <a:noFill/>
          <a:ln/>
        </p:spPr>
        <p:txBody>
          <a:bodyPr wrap="square" lIns="0" tIns="0" rIns="0" bIns="0" rtlCol="0" anchor="t"/>
          <a:lstStyle/>
          <a:p>
            <a:pPr indent="0" marL="0">
              <a:buNone/>
            </a:pPr>
            <a:r>
              <a:rPr lang="en-US" sz="4800" b="1" dirty="0">
                <a:solidFill>
                  <a:srgbClr val="0E9F8E"/>
                </a:solidFill>
                <a:latin typeface="Cambria" pitchFamily="34" charset="0"/>
                <a:ea typeface="Cambria" pitchFamily="34" charset="-122"/>
                <a:cs typeface="Cambria" pitchFamily="34" charset="-120"/>
              </a:rPr>
              <a:t>1 crawl</a:t>
            </a:r>
            <a:endParaRPr lang="en-US" sz="4800" dirty="0"/>
          </a:p>
        </p:txBody>
      </p:sp>
      <p:sp>
        <p:nvSpPr>
          <p:cNvPr id="8" name="Text 5"/>
          <p:cNvSpPr txBox="1"/>
          <p:nvPr/>
        </p:nvSpPr>
        <p:spPr>
          <a:xfrm>
            <a:off x="8138160" y="2377440"/>
            <a:ext cx="3291840" cy="822960"/>
          </a:xfrm>
          <a:prstGeom prst="rect">
            <a:avLst/>
          </a:prstGeom>
          <a:noFill/>
          <a:ln/>
        </p:spPr>
        <p:txBody>
          <a:bodyPr wrap="square" lIns="0" tIns="0" rIns="0" bIns="0" rtlCol="0" anchor="t"/>
          <a:lstStyle/>
          <a:p>
            <a:pPr indent="0" marL="0">
              <a:buNone/>
            </a:pPr>
            <a:r>
              <a:rPr lang="en-US" sz="1400" dirty="0">
                <a:solidFill>
                  <a:srgbClr val="13212E"/>
                </a:solidFill>
                <a:latin typeface="Calibri" pitchFamily="34" charset="0"/>
                <a:ea typeface="Calibri" pitchFamily="34" charset="-122"/>
                <a:cs typeface="Calibri" pitchFamily="34" charset="-120"/>
              </a:rPr>
              <a:t>per repository, then a small subgraph per question</a:t>
            </a:r>
            <a:endParaRPr lang="en-US" sz="1400" dirty="0"/>
          </a:p>
        </p:txBody>
      </p:sp>
      <p:sp>
        <p:nvSpPr>
          <p:cNvPr id="9" name="Shape 6"/>
          <p:cNvSpPr/>
          <p:nvPr/>
        </p:nvSpPr>
        <p:spPr>
          <a:xfrm>
            <a:off x="7863840" y="3657600"/>
            <a:ext cx="3794760" cy="2148840"/>
          </a:xfrm>
          <a:prstGeom prst="roundRect">
            <a:avLst>
              <a:gd name="adj" fmla="val 5106"/>
            </a:avLst>
          </a:prstGeom>
          <a:solidFill>
            <a:srgbClr val="EEF3F6"/>
          </a:solidFill>
          <a:ln w="6350">
            <a:solidFill>
              <a:srgbClr val="EEF3F6"/>
            </a:solidFill>
            <a:prstDash val="solid"/>
          </a:ln>
        </p:spPr>
      </p:sp>
      <p:sp>
        <p:nvSpPr>
          <p:cNvPr id="10" name="Text 7"/>
          <p:cNvSpPr txBox="1"/>
          <p:nvPr/>
        </p:nvSpPr>
        <p:spPr>
          <a:xfrm>
            <a:off x="8138160" y="3840480"/>
            <a:ext cx="3291840" cy="411480"/>
          </a:xfrm>
          <a:prstGeom prst="rect">
            <a:avLst/>
          </a:prstGeom>
          <a:noFill/>
          <a:ln/>
        </p:spPr>
        <p:txBody>
          <a:bodyPr wrap="square" lIns="0" tIns="0" rIns="0" bIns="0" rtlCol="0" anchor="t"/>
          <a:lstStyle/>
          <a:p>
            <a:pPr indent="0" marL="0">
              <a:buNone/>
            </a:pPr>
            <a:r>
              <a:rPr lang="en-US" sz="2000" b="1" dirty="0">
                <a:solidFill>
                  <a:srgbClr val="13212E"/>
                </a:solidFill>
                <a:latin typeface="Calibri" pitchFamily="34" charset="0"/>
                <a:ea typeface="Calibri" pitchFamily="34" charset="-122"/>
                <a:cs typeface="Calibri" pitchFamily="34" charset="-120"/>
              </a:rPr>
              <a:t>Durable &amp; shared</a:t>
            </a:r>
            <a:endParaRPr lang="en-US" sz="2000" dirty="0"/>
          </a:p>
        </p:txBody>
      </p:sp>
      <p:sp>
        <p:nvSpPr>
          <p:cNvPr id="11" name="Text 8"/>
          <p:cNvSpPr txBox="1"/>
          <p:nvPr/>
        </p:nvSpPr>
        <p:spPr>
          <a:xfrm>
            <a:off x="8138160" y="4297680"/>
            <a:ext cx="3291840" cy="128016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The graph outlives the session. The next teammate asks questions without rebuilding the map.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9144000" cy="274320"/>
          </a:xfrm>
          <a:prstGeom prst="rect">
            <a:avLst/>
          </a:prstGeom>
          <a:noFill/>
          <a:ln/>
        </p:spPr>
        <p:txBody>
          <a:bodyPr wrap="square" lIns="0" tIns="0" rIns="0" bIns="0" rtlCol="0" anchor="t"/>
          <a:lstStyle/>
          <a:p>
            <a:pPr indent="0" marL="0">
              <a:buNone/>
            </a:pPr>
            <a:r>
              <a:rPr lang="en-US" sz="1100" b="1" spc="300" kern="0" dirty="0">
                <a:solidFill>
                  <a:srgbClr val="0E9F8E"/>
                </a:solidFill>
                <a:latin typeface="Calibri" pitchFamily="34" charset="0"/>
                <a:ea typeface="Calibri" pitchFamily="34" charset="-122"/>
                <a:cs typeface="Calibri" pitchFamily="34" charset="-120"/>
              </a:rPr>
              <a:t>USER JOURNEY</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13212E"/>
                </a:solidFill>
                <a:latin typeface="Cambria" pitchFamily="34" charset="0"/>
                <a:ea typeface="Cambria" pitchFamily="34" charset="-122"/>
                <a:cs typeface="Cambria" pitchFamily="34" charset="-120"/>
              </a:rPr>
              <a:t>From URL to answers in four steps</a:t>
            </a:r>
            <a:endParaRPr lang="en-US" sz="3400" dirty="0"/>
          </a:p>
        </p:txBody>
      </p:sp>
      <p:sp>
        <p:nvSpPr>
          <p:cNvPr id="4" name="Shape 2"/>
          <p:cNvSpPr/>
          <p:nvPr/>
        </p:nvSpPr>
        <p:spPr>
          <a:xfrm>
            <a:off x="1920240" y="2011680"/>
            <a:ext cx="8366760" cy="0"/>
          </a:xfrm>
          <a:prstGeom prst="line">
            <a:avLst/>
          </a:prstGeom>
          <a:noFill/>
          <a:ln w="38100">
            <a:solidFill>
              <a:srgbClr val="0E9F8E"/>
            </a:solidFill>
            <a:prstDash val="solid"/>
          </a:ln>
        </p:spPr>
      </p:sp>
      <p:sp>
        <p:nvSpPr>
          <p:cNvPr id="5" name="Shape 3"/>
          <p:cNvSpPr/>
          <p:nvPr/>
        </p:nvSpPr>
        <p:spPr>
          <a:xfrm>
            <a:off x="1485900" y="1577340"/>
            <a:ext cx="868680" cy="868680"/>
          </a:xfrm>
          <a:prstGeom prst="ellipse">
            <a:avLst/>
          </a:prstGeom>
          <a:solidFill>
            <a:srgbClr val="0E9F8E"/>
          </a:solidFill>
          <a:ln w="6350">
            <a:solidFill>
              <a:srgbClr val="0E9F8E"/>
            </a:solidFill>
            <a:prstDash val="solid"/>
          </a:ln>
        </p:spPr>
      </p:sp>
      <p:sp>
        <p:nvSpPr>
          <p:cNvPr id="6" name="Text 4"/>
          <p:cNvSpPr txBox="1"/>
          <p:nvPr/>
        </p:nvSpPr>
        <p:spPr>
          <a:xfrm>
            <a:off x="1211580" y="1847088"/>
            <a:ext cx="14173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640080" y="2697480"/>
            <a:ext cx="2560320" cy="365760"/>
          </a:xfrm>
          <a:prstGeom prst="rect">
            <a:avLst/>
          </a:prstGeom>
          <a:noFill/>
          <a:ln/>
        </p:spPr>
        <p:txBody>
          <a:bodyPr wrap="square" lIns="0" tIns="0" rIns="0" bIns="0" rtlCol="0" anchor="t"/>
          <a:lstStyle/>
          <a:p>
            <a:pPr algn="ctr" indent="0" marL="0">
              <a:buNone/>
            </a:pPr>
            <a:r>
              <a:rPr lang="en-US" sz="1700" b="1" dirty="0">
                <a:solidFill>
                  <a:srgbClr val="13212E"/>
                </a:solidFill>
                <a:latin typeface="Calibri" pitchFamily="34" charset="0"/>
                <a:ea typeface="Calibri" pitchFamily="34" charset="-122"/>
                <a:cs typeface="Calibri" pitchFamily="34" charset="-120"/>
              </a:rPr>
              <a:t>Point it at code</a:t>
            </a:r>
            <a:endParaRPr lang="en-US" sz="1700" dirty="0"/>
          </a:p>
        </p:txBody>
      </p:sp>
      <p:sp>
        <p:nvSpPr>
          <p:cNvPr id="8" name="Text 6"/>
          <p:cNvSpPr txBox="1"/>
          <p:nvPr/>
        </p:nvSpPr>
        <p:spPr>
          <a:xfrm>
            <a:off x="640080" y="3108960"/>
            <a:ext cx="2560320" cy="1005840"/>
          </a:xfrm>
          <a:prstGeom prst="rect">
            <a:avLst/>
          </a:prstGeom>
          <a:noFill/>
          <a:ln/>
        </p:spPr>
        <p:txBody>
          <a:bodyPr wrap="square" lIns="0" tIns="0" rIns="0" bIns="0" rtlCol="0" anchor="t"/>
          <a:lstStyle/>
          <a:p>
            <a:pPr algn="ctr" indent="0" marL="0">
              <a:buNone/>
            </a:pPr>
            <a:r>
              <a:rPr lang="en-US" sz="1300" dirty="0">
                <a:solidFill>
                  <a:srgbClr val="5B6B7A"/>
                </a:solidFill>
                <a:latin typeface="Calibri" pitchFamily="34" charset="0"/>
                <a:ea typeface="Calibri" pitchFamily="34" charset="-122"/>
                <a:cs typeface="Calibri" pitchFamily="34" charset="-120"/>
              </a:rPr>
              <a:t>Paste a public Git URL or upload a .zip in the web UI.</a:t>
            </a:r>
            <a:endParaRPr lang="en-US" sz="1300" dirty="0"/>
          </a:p>
        </p:txBody>
      </p:sp>
      <p:sp>
        <p:nvSpPr>
          <p:cNvPr id="9" name="Shape 7"/>
          <p:cNvSpPr/>
          <p:nvPr/>
        </p:nvSpPr>
        <p:spPr>
          <a:xfrm>
            <a:off x="4274820" y="1577340"/>
            <a:ext cx="868680" cy="868680"/>
          </a:xfrm>
          <a:prstGeom prst="ellipse">
            <a:avLst/>
          </a:prstGeom>
          <a:solidFill>
            <a:srgbClr val="0E9F8E"/>
          </a:solidFill>
          <a:ln w="6350">
            <a:solidFill>
              <a:srgbClr val="0E9F8E"/>
            </a:solidFill>
            <a:prstDash val="solid"/>
          </a:ln>
        </p:spPr>
      </p:sp>
      <p:sp>
        <p:nvSpPr>
          <p:cNvPr id="10" name="Text 8"/>
          <p:cNvSpPr txBox="1"/>
          <p:nvPr/>
        </p:nvSpPr>
        <p:spPr>
          <a:xfrm>
            <a:off x="4000500" y="1847088"/>
            <a:ext cx="14173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3429000" y="2697480"/>
            <a:ext cx="2560320" cy="365760"/>
          </a:xfrm>
          <a:prstGeom prst="rect">
            <a:avLst/>
          </a:prstGeom>
          <a:noFill/>
          <a:ln/>
        </p:spPr>
        <p:txBody>
          <a:bodyPr wrap="square" lIns="0" tIns="0" rIns="0" bIns="0" rtlCol="0" anchor="t"/>
          <a:lstStyle/>
          <a:p>
            <a:pPr algn="ctr" indent="0" marL="0">
              <a:buNone/>
            </a:pPr>
            <a:r>
              <a:rPr lang="en-US" sz="1700" b="1" dirty="0">
                <a:solidFill>
                  <a:srgbClr val="13212E"/>
                </a:solidFill>
                <a:latin typeface="Calibri" pitchFamily="34" charset="0"/>
                <a:ea typeface="Calibri" pitchFamily="34" charset="-122"/>
                <a:cs typeface="Calibri" pitchFamily="34" charset="-120"/>
              </a:rPr>
              <a:t>Watch it think</a:t>
            </a:r>
            <a:endParaRPr lang="en-US" sz="1700" dirty="0"/>
          </a:p>
        </p:txBody>
      </p:sp>
      <p:sp>
        <p:nvSpPr>
          <p:cNvPr id="12" name="Text 10"/>
          <p:cNvSpPr txBox="1"/>
          <p:nvPr/>
        </p:nvSpPr>
        <p:spPr>
          <a:xfrm>
            <a:off x="3429000" y="3108960"/>
            <a:ext cx="2560320" cy="1005840"/>
          </a:xfrm>
          <a:prstGeom prst="rect">
            <a:avLst/>
          </a:prstGeom>
          <a:noFill/>
          <a:ln/>
        </p:spPr>
        <p:txBody>
          <a:bodyPr wrap="square" lIns="0" tIns="0" rIns="0" bIns="0" rtlCol="0" anchor="t"/>
          <a:lstStyle/>
          <a:p>
            <a:pPr algn="ctr" indent="0" marL="0">
              <a:buNone/>
            </a:pPr>
            <a:r>
              <a:rPr lang="en-US" sz="1300" dirty="0">
                <a:solidFill>
                  <a:srgbClr val="5B6B7A"/>
                </a:solidFill>
                <a:latin typeface="Calibri" pitchFamily="34" charset="0"/>
                <a:ea typeface="Calibri" pitchFamily="34" charset="-122"/>
                <a:cs typeface="Calibri" pitchFamily="34" charset="-120"/>
              </a:rPr>
              <a:t>A live trace shows every agent call, the files picked and the tokens spent.</a:t>
            </a:r>
            <a:endParaRPr lang="en-US" sz="1300" dirty="0"/>
          </a:p>
        </p:txBody>
      </p:sp>
      <p:sp>
        <p:nvSpPr>
          <p:cNvPr id="13" name="Shape 11"/>
          <p:cNvSpPr/>
          <p:nvPr/>
        </p:nvSpPr>
        <p:spPr>
          <a:xfrm>
            <a:off x="7063740" y="1577340"/>
            <a:ext cx="868680" cy="868680"/>
          </a:xfrm>
          <a:prstGeom prst="ellipse">
            <a:avLst/>
          </a:prstGeom>
          <a:solidFill>
            <a:srgbClr val="0E9F8E"/>
          </a:solidFill>
          <a:ln w="6350">
            <a:solidFill>
              <a:srgbClr val="0E9F8E"/>
            </a:solidFill>
            <a:prstDash val="solid"/>
          </a:ln>
        </p:spPr>
      </p:sp>
      <p:sp>
        <p:nvSpPr>
          <p:cNvPr id="14" name="Text 12"/>
          <p:cNvSpPr txBox="1"/>
          <p:nvPr/>
        </p:nvSpPr>
        <p:spPr>
          <a:xfrm>
            <a:off x="6789420" y="1847088"/>
            <a:ext cx="14173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6217920" y="2697480"/>
            <a:ext cx="2560320" cy="365760"/>
          </a:xfrm>
          <a:prstGeom prst="rect">
            <a:avLst/>
          </a:prstGeom>
          <a:noFill/>
          <a:ln/>
        </p:spPr>
        <p:txBody>
          <a:bodyPr wrap="square" lIns="0" tIns="0" rIns="0" bIns="0" rtlCol="0" anchor="t"/>
          <a:lstStyle/>
          <a:p>
            <a:pPr algn="ctr" indent="0" marL="0">
              <a:buNone/>
            </a:pPr>
            <a:r>
              <a:rPr lang="en-US" sz="1700" b="1" dirty="0">
                <a:solidFill>
                  <a:srgbClr val="13212E"/>
                </a:solidFill>
                <a:latin typeface="Calibri" pitchFamily="34" charset="0"/>
                <a:ea typeface="Calibri" pitchFamily="34" charset="-122"/>
                <a:cs typeface="Calibri" pitchFamily="34" charset="-120"/>
              </a:rPr>
              <a:t>Explore the graph</a:t>
            </a:r>
            <a:endParaRPr lang="en-US" sz="1700" dirty="0"/>
          </a:p>
        </p:txBody>
      </p:sp>
      <p:sp>
        <p:nvSpPr>
          <p:cNvPr id="16" name="Text 14"/>
          <p:cNvSpPr txBox="1"/>
          <p:nvPr/>
        </p:nvSpPr>
        <p:spPr>
          <a:xfrm>
            <a:off x="6217920" y="3108960"/>
            <a:ext cx="2560320" cy="1005840"/>
          </a:xfrm>
          <a:prstGeom prst="rect">
            <a:avLst/>
          </a:prstGeom>
          <a:noFill/>
          <a:ln/>
        </p:spPr>
        <p:txBody>
          <a:bodyPr wrap="square" lIns="0" tIns="0" rIns="0" bIns="0" rtlCol="0" anchor="t"/>
          <a:lstStyle/>
          <a:p>
            <a:pPr algn="ctr" indent="0" marL="0">
              <a:buNone/>
            </a:pPr>
            <a:r>
              <a:rPr lang="en-US" sz="1300" dirty="0">
                <a:solidFill>
                  <a:srgbClr val="5B6B7A"/>
                </a:solidFill>
                <a:latin typeface="Calibri" pitchFamily="34" charset="0"/>
                <a:ea typeface="Calibri" pitchFamily="34" charset="-122"/>
                <a:cs typeface="Calibri" pitchFamily="34" charset="-120"/>
              </a:rPr>
              <a:t>Browse the overview, symbols and call graph the run produced.</a:t>
            </a:r>
            <a:endParaRPr lang="en-US" sz="1300" dirty="0"/>
          </a:p>
        </p:txBody>
      </p:sp>
      <p:sp>
        <p:nvSpPr>
          <p:cNvPr id="17" name="Shape 15"/>
          <p:cNvSpPr/>
          <p:nvPr/>
        </p:nvSpPr>
        <p:spPr>
          <a:xfrm>
            <a:off x="9852660" y="1577340"/>
            <a:ext cx="868680" cy="868680"/>
          </a:xfrm>
          <a:prstGeom prst="ellipse">
            <a:avLst/>
          </a:prstGeom>
          <a:solidFill>
            <a:srgbClr val="F2A541"/>
          </a:solidFill>
          <a:ln w="6350">
            <a:solidFill>
              <a:srgbClr val="F2A541"/>
            </a:solidFill>
            <a:prstDash val="solid"/>
          </a:ln>
        </p:spPr>
      </p:sp>
      <p:sp>
        <p:nvSpPr>
          <p:cNvPr id="18" name="Text 16"/>
          <p:cNvSpPr txBox="1"/>
          <p:nvPr/>
        </p:nvSpPr>
        <p:spPr>
          <a:xfrm>
            <a:off x="9578340" y="1847088"/>
            <a:ext cx="1417320" cy="329184"/>
          </a:xfrm>
          <a:prstGeom prst="rect">
            <a:avLst/>
          </a:prstGeom>
          <a:noFill/>
          <a:ln/>
        </p:spPr>
        <p:txBody>
          <a:bodyPr wrap="square" lIns="0" tIns="0" rIns="0" bIns="0" rtlCol="0" anchor="ctr"/>
          <a:lstStyle/>
          <a:p>
            <a:pPr algn="ctr" indent="0" marL="0">
              <a:buNone/>
            </a:pPr>
            <a:r>
              <a:rPr lang="en-US" sz="1100" b="1" dirty="0">
                <a:solidFill>
                  <a:srgbClr val="0B1D2A"/>
                </a:solidFill>
                <a:latin typeface="Calibri" pitchFamily="34" charset="0"/>
                <a:ea typeface="Calibri" pitchFamily="34" charset="-122"/>
                <a:cs typeface="Calibri" pitchFamily="34" charset="-120"/>
              </a:rPr>
              <a:t>4</a:t>
            </a:r>
            <a:endParaRPr lang="en-US" sz="1100" dirty="0"/>
          </a:p>
        </p:txBody>
      </p:sp>
      <p:sp>
        <p:nvSpPr>
          <p:cNvPr id="19" name="Text 17"/>
          <p:cNvSpPr txBox="1"/>
          <p:nvPr/>
        </p:nvSpPr>
        <p:spPr>
          <a:xfrm>
            <a:off x="9006840" y="2697480"/>
            <a:ext cx="2560320" cy="365760"/>
          </a:xfrm>
          <a:prstGeom prst="rect">
            <a:avLst/>
          </a:prstGeom>
          <a:noFill/>
          <a:ln/>
        </p:spPr>
        <p:txBody>
          <a:bodyPr wrap="square" lIns="0" tIns="0" rIns="0" bIns="0" rtlCol="0" anchor="t"/>
          <a:lstStyle/>
          <a:p>
            <a:pPr algn="ctr" indent="0" marL="0">
              <a:buNone/>
            </a:pPr>
            <a:r>
              <a:rPr lang="en-US" sz="1700" b="1" dirty="0">
                <a:solidFill>
                  <a:srgbClr val="13212E"/>
                </a:solidFill>
                <a:latin typeface="Calibri" pitchFamily="34" charset="0"/>
                <a:ea typeface="Calibri" pitchFamily="34" charset="-122"/>
                <a:cs typeface="Calibri" pitchFamily="34" charset="-120"/>
              </a:rPr>
              <a:t>Ask anything</a:t>
            </a:r>
            <a:endParaRPr lang="en-US" sz="1700" dirty="0"/>
          </a:p>
        </p:txBody>
      </p:sp>
      <p:sp>
        <p:nvSpPr>
          <p:cNvPr id="20" name="Text 18"/>
          <p:cNvSpPr txBox="1"/>
          <p:nvPr/>
        </p:nvSpPr>
        <p:spPr>
          <a:xfrm>
            <a:off x="9006840" y="3108960"/>
            <a:ext cx="2560320" cy="1005840"/>
          </a:xfrm>
          <a:prstGeom prst="rect">
            <a:avLst/>
          </a:prstGeom>
          <a:noFill/>
          <a:ln/>
        </p:spPr>
        <p:txBody>
          <a:bodyPr wrap="square" lIns="0" tIns="0" rIns="0" bIns="0" rtlCol="0" anchor="t"/>
          <a:lstStyle/>
          <a:p>
            <a:pPr algn="ctr" indent="0" marL="0">
              <a:buNone/>
            </a:pPr>
            <a:r>
              <a:rPr lang="en-US" sz="1300" dirty="0">
                <a:solidFill>
                  <a:srgbClr val="5B6B7A"/>
                </a:solidFill>
                <a:latin typeface="Calibri" pitchFamily="34" charset="0"/>
                <a:ea typeface="Calibri" pitchFamily="34" charset="-122"/>
                <a:cs typeface="Calibri" pitchFamily="34" charset="-120"/>
              </a:rPr>
              <a:t>“Where is auth enforced?” The answer cites the nodes it used.</a:t>
            </a:r>
            <a:endParaRPr lang="en-US" sz="1300" dirty="0"/>
          </a:p>
        </p:txBody>
      </p:sp>
      <p:sp>
        <p:nvSpPr>
          <p:cNvPr id="21" name="Shape 19"/>
          <p:cNvSpPr/>
          <p:nvPr/>
        </p:nvSpPr>
        <p:spPr>
          <a:xfrm>
            <a:off x="548640" y="4434840"/>
            <a:ext cx="11109960" cy="1600200"/>
          </a:xfrm>
          <a:prstGeom prst="roundRect">
            <a:avLst>
              <a:gd name="adj" fmla="val 6857"/>
            </a:avLst>
          </a:prstGeom>
          <a:solidFill>
            <a:srgbClr val="0B1D2A"/>
          </a:solidFill>
          <a:ln w="6350">
            <a:solidFill>
              <a:srgbClr val="0B1D2A"/>
            </a:solidFill>
            <a:prstDash val="solid"/>
          </a:ln>
        </p:spPr>
      </p:sp>
      <p:sp>
        <p:nvSpPr>
          <p:cNvPr id="22" name="Text 20"/>
          <p:cNvSpPr txBox="1"/>
          <p:nvPr/>
        </p:nvSpPr>
        <p:spPr>
          <a:xfrm>
            <a:off x="868680" y="4617720"/>
            <a:ext cx="3657600" cy="365760"/>
          </a:xfrm>
          <a:prstGeom prst="rect">
            <a:avLst/>
          </a:prstGeom>
          <a:noFill/>
          <a:ln/>
        </p:spPr>
        <p:txBody>
          <a:bodyPr wrap="square" lIns="0" tIns="0" rIns="0" bIns="0" rtlCol="0" anchor="t"/>
          <a:lstStyle/>
          <a:p>
            <a:pPr indent="0" marL="0">
              <a:buNone/>
            </a:pPr>
            <a:r>
              <a:rPr lang="en-US" sz="1600" b="1" dirty="0">
                <a:solidFill>
                  <a:srgbClr val="F2A541"/>
                </a:solidFill>
                <a:latin typeface="Calibri" pitchFamily="34" charset="0"/>
                <a:ea typeface="Calibri" pitchFamily="34" charset="-122"/>
                <a:cs typeface="Calibri" pitchFamily="34" charset="-120"/>
              </a:rPr>
              <a:t>Who it is for</a:t>
            </a:r>
            <a:endParaRPr lang="en-US" sz="1600" dirty="0"/>
          </a:p>
        </p:txBody>
      </p:sp>
      <p:sp>
        <p:nvSpPr>
          <p:cNvPr id="23" name="Shape 21"/>
          <p:cNvSpPr/>
          <p:nvPr/>
        </p:nvSpPr>
        <p:spPr>
          <a:xfrm>
            <a:off x="868680" y="5312664"/>
            <a:ext cx="219456" cy="219456"/>
          </a:xfrm>
          <a:prstGeom prst="ellipse">
            <a:avLst/>
          </a:prstGeom>
          <a:solidFill>
            <a:srgbClr val="0E9F8E"/>
          </a:solidFill>
          <a:ln w="6350">
            <a:solidFill>
              <a:srgbClr val="0E9F8E"/>
            </a:solidFill>
            <a:prstDash val="solid"/>
          </a:ln>
        </p:spPr>
      </p:sp>
      <p:sp>
        <p:nvSpPr>
          <p:cNvPr id="24" name="Text 22"/>
          <p:cNvSpPr txBox="1"/>
          <p:nvPr/>
        </p:nvSpPr>
        <p:spPr>
          <a:xfrm>
            <a:off x="1216152" y="5230368"/>
            <a:ext cx="233172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New joiners on day one</a:t>
            </a:r>
            <a:endParaRPr lang="en-US" sz="1400" dirty="0"/>
          </a:p>
        </p:txBody>
      </p:sp>
      <p:sp>
        <p:nvSpPr>
          <p:cNvPr id="25" name="Shape 23"/>
          <p:cNvSpPr/>
          <p:nvPr/>
        </p:nvSpPr>
        <p:spPr>
          <a:xfrm>
            <a:off x="3566160" y="5312664"/>
            <a:ext cx="219456" cy="219456"/>
          </a:xfrm>
          <a:prstGeom prst="ellipse">
            <a:avLst/>
          </a:prstGeom>
          <a:solidFill>
            <a:srgbClr val="0E9F8E"/>
          </a:solidFill>
          <a:ln w="6350">
            <a:solidFill>
              <a:srgbClr val="0E9F8E"/>
            </a:solidFill>
            <a:prstDash val="solid"/>
          </a:ln>
        </p:spPr>
      </p:sp>
      <p:sp>
        <p:nvSpPr>
          <p:cNvPr id="26" name="Text 24"/>
          <p:cNvSpPr txBox="1"/>
          <p:nvPr/>
        </p:nvSpPr>
        <p:spPr>
          <a:xfrm>
            <a:off x="3913632" y="5230368"/>
            <a:ext cx="233172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Reviewers in unfamiliar code</a:t>
            </a:r>
            <a:endParaRPr lang="en-US" sz="1400" dirty="0"/>
          </a:p>
        </p:txBody>
      </p:sp>
      <p:sp>
        <p:nvSpPr>
          <p:cNvPr id="27" name="Shape 25"/>
          <p:cNvSpPr/>
          <p:nvPr/>
        </p:nvSpPr>
        <p:spPr>
          <a:xfrm>
            <a:off x="6263640" y="5312664"/>
            <a:ext cx="219456" cy="219456"/>
          </a:xfrm>
          <a:prstGeom prst="ellipse">
            <a:avLst/>
          </a:prstGeom>
          <a:solidFill>
            <a:srgbClr val="0E9F8E"/>
          </a:solidFill>
          <a:ln w="6350">
            <a:solidFill>
              <a:srgbClr val="0E9F8E"/>
            </a:solidFill>
            <a:prstDash val="solid"/>
          </a:ln>
        </p:spPr>
      </p:sp>
      <p:sp>
        <p:nvSpPr>
          <p:cNvPr id="28" name="Text 26"/>
          <p:cNvSpPr txBox="1"/>
          <p:nvPr/>
        </p:nvSpPr>
        <p:spPr>
          <a:xfrm>
            <a:off x="6611112" y="5230368"/>
            <a:ext cx="233172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Engineers inheriting a service</a:t>
            </a:r>
            <a:endParaRPr lang="en-US" sz="1400" dirty="0"/>
          </a:p>
        </p:txBody>
      </p:sp>
      <p:sp>
        <p:nvSpPr>
          <p:cNvPr id="29" name="Shape 27"/>
          <p:cNvSpPr/>
          <p:nvPr/>
        </p:nvSpPr>
        <p:spPr>
          <a:xfrm>
            <a:off x="8961120" y="5312664"/>
            <a:ext cx="219456" cy="219456"/>
          </a:xfrm>
          <a:prstGeom prst="ellipse">
            <a:avLst/>
          </a:prstGeom>
          <a:solidFill>
            <a:srgbClr val="0E9F8E"/>
          </a:solidFill>
          <a:ln w="6350">
            <a:solidFill>
              <a:srgbClr val="0E9F8E"/>
            </a:solidFill>
            <a:prstDash val="solid"/>
          </a:ln>
        </p:spPr>
      </p:sp>
      <p:sp>
        <p:nvSpPr>
          <p:cNvPr id="30" name="Text 28"/>
          <p:cNvSpPr txBox="1"/>
          <p:nvPr/>
        </p:nvSpPr>
        <p:spPr>
          <a:xfrm>
            <a:off x="9308592" y="5230368"/>
            <a:ext cx="233172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Leads writing onboarding docs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D2A"/>
        </a:solidFill>
      </p:bgPr>
    </p:bg>
    <p:spTree>
      <p:nvGrpSpPr>
        <p:cNvPr id="1" name=""/>
        <p:cNvGrpSpPr/>
        <p:nvPr/>
      </p:nvGrpSpPr>
      <p:grpSpPr>
        <a:xfrm>
          <a:off x="0" y="0"/>
          <a:ext cx="0" cy="0"/>
          <a:chOff x="0" y="0"/>
          <a:chExt cx="0" cy="0"/>
        </a:xfrm>
      </p:grpSpPr>
      <p:sp>
        <p:nvSpPr>
          <p:cNvPr id="2" name="Text 0"/>
          <p:cNvSpPr txBox="1"/>
          <p:nvPr/>
        </p:nvSpPr>
        <p:spPr>
          <a:xfrm>
            <a:off x="548640" y="182880"/>
            <a:ext cx="9144000" cy="274320"/>
          </a:xfrm>
          <a:prstGeom prst="rect">
            <a:avLst/>
          </a:prstGeom>
          <a:noFill/>
          <a:ln/>
        </p:spPr>
        <p:txBody>
          <a:bodyPr wrap="square" lIns="0" tIns="0" rIns="0" bIns="0" rtlCol="0" anchor="t"/>
          <a:lstStyle/>
          <a:p>
            <a:pPr indent="0" marL="0">
              <a:buNone/>
            </a:pPr>
            <a:r>
              <a:rPr lang="en-US" sz="1100" b="1" spc="300" kern="0" dirty="0">
                <a:solidFill>
                  <a:srgbClr val="F2A541"/>
                </a:solidFill>
                <a:latin typeface="Calibri" pitchFamily="34" charset="0"/>
                <a:ea typeface="Calibri" pitchFamily="34" charset="-122"/>
                <a:cs typeface="Calibri" pitchFamily="34" charset="-120"/>
              </a:rPr>
              <a:t>HOW WE USED IBM BOB 2.0</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Bob built it in one Agent-mode session</a:t>
            </a:r>
            <a:endParaRPr lang="en-US" sz="3400" dirty="0"/>
          </a:p>
        </p:txBody>
      </p:sp>
      <p:sp>
        <p:nvSpPr>
          <p:cNvPr id="4" name="Shape 2"/>
          <p:cNvSpPr/>
          <p:nvPr/>
        </p:nvSpPr>
        <p:spPr>
          <a:xfrm>
            <a:off x="548640" y="1371600"/>
            <a:ext cx="2606040" cy="1783080"/>
          </a:xfrm>
          <a:prstGeom prst="roundRect">
            <a:avLst>
              <a:gd name="adj" fmla="val 6154"/>
            </a:avLst>
          </a:prstGeom>
          <a:solidFill>
            <a:srgbClr val="16324A"/>
          </a:solidFill>
          <a:ln w="6350">
            <a:solidFill>
              <a:srgbClr val="16324A"/>
            </a:solidFill>
            <a:prstDash val="solid"/>
          </a:ln>
        </p:spPr>
      </p:sp>
      <p:sp>
        <p:nvSpPr>
          <p:cNvPr id="5" name="Text 3"/>
          <p:cNvSpPr txBox="1"/>
          <p:nvPr/>
        </p:nvSpPr>
        <p:spPr>
          <a:xfrm>
            <a:off x="777240" y="1508760"/>
            <a:ext cx="2194560" cy="777240"/>
          </a:xfrm>
          <a:prstGeom prst="rect">
            <a:avLst/>
          </a:prstGeom>
          <a:noFill/>
          <a:ln/>
        </p:spPr>
        <p:txBody>
          <a:bodyPr wrap="square" lIns="0" tIns="0" rIns="0" bIns="0" rtlCol="0" anchor="t"/>
          <a:lstStyle/>
          <a:p>
            <a:pPr indent="0" marL="0">
              <a:buNone/>
            </a:pPr>
            <a:r>
              <a:rPr lang="en-US" sz="4000" b="1" dirty="0">
                <a:solidFill>
                  <a:srgbClr val="F2A541"/>
                </a:solidFill>
                <a:latin typeface="Cambria" pitchFamily="34" charset="0"/>
                <a:ea typeface="Cambria" pitchFamily="34" charset="-122"/>
                <a:cs typeface="Cambria" pitchFamily="34" charset="-120"/>
              </a:rPr>
              <a:t>3,109</a:t>
            </a:r>
            <a:endParaRPr lang="en-US" sz="4000" dirty="0"/>
          </a:p>
        </p:txBody>
      </p:sp>
      <p:sp>
        <p:nvSpPr>
          <p:cNvPr id="6" name="Text 4"/>
          <p:cNvSpPr txBox="1"/>
          <p:nvPr/>
        </p:nvSpPr>
        <p:spPr>
          <a:xfrm>
            <a:off x="777240" y="2286000"/>
            <a:ext cx="2194560" cy="777240"/>
          </a:xfrm>
          <a:prstGeom prst="rect">
            <a:avLst/>
          </a:prstGeom>
          <a:noFill/>
          <a:ln/>
        </p:spPr>
        <p:txBody>
          <a:bodyPr wrap="square" lIns="0" tIns="0" rIns="0" bIns="0" rtlCol="0" anchor="t"/>
          <a:lstStyle/>
          <a:p>
            <a:pPr indent="0" marL="0">
              <a:buNone/>
            </a:pPr>
            <a:r>
              <a:rPr lang="en-US" sz="1250" dirty="0">
                <a:solidFill>
                  <a:srgbClr val="C9D6E0"/>
                </a:solidFill>
                <a:latin typeface="Calibri" pitchFamily="34" charset="0"/>
                <a:ea typeface="Calibri" pitchFamily="34" charset="-122"/>
                <a:cs typeface="Calibri" pitchFamily="34" charset="-120"/>
              </a:rPr>
              <a:t>lines of hackathon brief turned into a requirements summary</a:t>
            </a:r>
            <a:endParaRPr lang="en-US" sz="1250" dirty="0"/>
          </a:p>
        </p:txBody>
      </p:sp>
      <p:sp>
        <p:nvSpPr>
          <p:cNvPr id="7" name="Shape 5"/>
          <p:cNvSpPr/>
          <p:nvPr/>
        </p:nvSpPr>
        <p:spPr>
          <a:xfrm>
            <a:off x="3383280" y="1371600"/>
            <a:ext cx="2606040" cy="1783080"/>
          </a:xfrm>
          <a:prstGeom prst="roundRect">
            <a:avLst>
              <a:gd name="adj" fmla="val 6154"/>
            </a:avLst>
          </a:prstGeom>
          <a:solidFill>
            <a:srgbClr val="16324A"/>
          </a:solidFill>
          <a:ln w="6350">
            <a:solidFill>
              <a:srgbClr val="16324A"/>
            </a:solidFill>
            <a:prstDash val="solid"/>
          </a:ln>
        </p:spPr>
      </p:sp>
      <p:sp>
        <p:nvSpPr>
          <p:cNvPr id="8" name="Text 6"/>
          <p:cNvSpPr txBox="1"/>
          <p:nvPr/>
        </p:nvSpPr>
        <p:spPr>
          <a:xfrm>
            <a:off x="3611880" y="1508760"/>
            <a:ext cx="2194560" cy="777240"/>
          </a:xfrm>
          <a:prstGeom prst="rect">
            <a:avLst/>
          </a:prstGeom>
          <a:noFill/>
          <a:ln/>
        </p:spPr>
        <p:txBody>
          <a:bodyPr wrap="square" lIns="0" tIns="0" rIns="0" bIns="0" rtlCol="0" anchor="t"/>
          <a:lstStyle/>
          <a:p>
            <a:pPr indent="0" marL="0">
              <a:buNone/>
            </a:pPr>
            <a:r>
              <a:rPr lang="en-US" sz="4000" b="1" dirty="0">
                <a:solidFill>
                  <a:srgbClr val="F2A541"/>
                </a:solidFill>
                <a:latin typeface="Cambria" pitchFamily="34" charset="0"/>
                <a:ea typeface="Cambria" pitchFamily="34" charset="-122"/>
                <a:cs typeface="Cambria" pitchFamily="34" charset="-120"/>
              </a:rPr>
              <a:t>17</a:t>
            </a:r>
            <a:endParaRPr lang="en-US" sz="4000" dirty="0"/>
          </a:p>
        </p:txBody>
      </p:sp>
      <p:sp>
        <p:nvSpPr>
          <p:cNvPr id="9" name="Text 7"/>
          <p:cNvSpPr txBox="1"/>
          <p:nvPr/>
        </p:nvSpPr>
        <p:spPr>
          <a:xfrm>
            <a:off x="3611880" y="2286000"/>
            <a:ext cx="2194560" cy="777240"/>
          </a:xfrm>
          <a:prstGeom prst="rect">
            <a:avLst/>
          </a:prstGeom>
          <a:noFill/>
          <a:ln/>
        </p:spPr>
        <p:txBody>
          <a:bodyPr wrap="square" lIns="0" tIns="0" rIns="0" bIns="0" rtlCol="0" anchor="t"/>
          <a:lstStyle/>
          <a:p>
            <a:pPr indent="0" marL="0">
              <a:buNone/>
            </a:pPr>
            <a:r>
              <a:rPr lang="en-US" sz="1250" dirty="0">
                <a:solidFill>
                  <a:srgbClr val="C9D6E0"/>
                </a:solidFill>
                <a:latin typeface="Calibri" pitchFamily="34" charset="0"/>
                <a:ea typeface="Calibri" pitchFamily="34" charset="-122"/>
                <a:cs typeface="Calibri" pitchFamily="34" charset="-120"/>
              </a:rPr>
              <a:t>tracked items in Bob’s phased build plan</a:t>
            </a:r>
            <a:endParaRPr lang="en-US" sz="1250" dirty="0"/>
          </a:p>
        </p:txBody>
      </p:sp>
      <p:sp>
        <p:nvSpPr>
          <p:cNvPr id="10" name="Shape 8"/>
          <p:cNvSpPr/>
          <p:nvPr/>
        </p:nvSpPr>
        <p:spPr>
          <a:xfrm>
            <a:off x="6217920" y="1371600"/>
            <a:ext cx="2606040" cy="1783080"/>
          </a:xfrm>
          <a:prstGeom prst="roundRect">
            <a:avLst>
              <a:gd name="adj" fmla="val 6154"/>
            </a:avLst>
          </a:prstGeom>
          <a:solidFill>
            <a:srgbClr val="16324A"/>
          </a:solidFill>
          <a:ln w="6350">
            <a:solidFill>
              <a:srgbClr val="16324A"/>
            </a:solidFill>
            <a:prstDash val="solid"/>
          </a:ln>
        </p:spPr>
      </p:sp>
      <p:sp>
        <p:nvSpPr>
          <p:cNvPr id="11" name="Text 9"/>
          <p:cNvSpPr txBox="1"/>
          <p:nvPr/>
        </p:nvSpPr>
        <p:spPr>
          <a:xfrm>
            <a:off x="6446520" y="1508760"/>
            <a:ext cx="2194560" cy="777240"/>
          </a:xfrm>
          <a:prstGeom prst="rect">
            <a:avLst/>
          </a:prstGeom>
          <a:noFill/>
          <a:ln/>
        </p:spPr>
        <p:txBody>
          <a:bodyPr wrap="square" lIns="0" tIns="0" rIns="0" bIns="0" rtlCol="0" anchor="t"/>
          <a:lstStyle/>
          <a:p>
            <a:pPr indent="0" marL="0">
              <a:buNone/>
            </a:pPr>
            <a:r>
              <a:rPr lang="en-US" sz="4000" b="1" dirty="0">
                <a:solidFill>
                  <a:srgbClr val="F2A541"/>
                </a:solidFill>
                <a:latin typeface="Cambria" pitchFamily="34" charset="0"/>
                <a:ea typeface="Cambria" pitchFamily="34" charset="-122"/>
                <a:cs typeface="Cambria" pitchFamily="34" charset="-120"/>
              </a:rPr>
              <a:t>50</a:t>
            </a:r>
            <a:endParaRPr lang="en-US" sz="4000" dirty="0"/>
          </a:p>
        </p:txBody>
      </p:sp>
      <p:sp>
        <p:nvSpPr>
          <p:cNvPr id="12" name="Text 10"/>
          <p:cNvSpPr txBox="1"/>
          <p:nvPr/>
        </p:nvSpPr>
        <p:spPr>
          <a:xfrm>
            <a:off x="6446520" y="2286000"/>
            <a:ext cx="2194560" cy="777240"/>
          </a:xfrm>
          <a:prstGeom prst="rect">
            <a:avLst/>
          </a:prstGeom>
          <a:noFill/>
          <a:ln/>
        </p:spPr>
        <p:txBody>
          <a:bodyPr wrap="square" lIns="0" tIns="0" rIns="0" bIns="0" rtlCol="0" anchor="t"/>
          <a:lstStyle/>
          <a:p>
            <a:pPr indent="0" marL="0">
              <a:buNone/>
            </a:pPr>
            <a:r>
              <a:rPr lang="en-US" sz="1250" dirty="0">
                <a:solidFill>
                  <a:srgbClr val="C9D6E0"/>
                </a:solidFill>
                <a:latin typeface="Calibri" pitchFamily="34" charset="0"/>
                <a:ea typeface="Calibri" pitchFamily="34" charset="-122"/>
                <a:cs typeface="Calibri" pitchFamily="34" charset="-120"/>
              </a:rPr>
              <a:t>files written or changed in Agent mode</a:t>
            </a:r>
            <a:endParaRPr lang="en-US" sz="1250" dirty="0"/>
          </a:p>
        </p:txBody>
      </p:sp>
      <p:sp>
        <p:nvSpPr>
          <p:cNvPr id="13" name="Shape 11"/>
          <p:cNvSpPr/>
          <p:nvPr/>
        </p:nvSpPr>
        <p:spPr>
          <a:xfrm>
            <a:off x="9052560" y="1371600"/>
            <a:ext cx="2606040" cy="1783080"/>
          </a:xfrm>
          <a:prstGeom prst="roundRect">
            <a:avLst>
              <a:gd name="adj" fmla="val 6154"/>
            </a:avLst>
          </a:prstGeom>
          <a:solidFill>
            <a:srgbClr val="16324A"/>
          </a:solidFill>
          <a:ln w="6350">
            <a:solidFill>
              <a:srgbClr val="16324A"/>
            </a:solidFill>
            <a:prstDash val="solid"/>
          </a:ln>
        </p:spPr>
      </p:sp>
      <p:sp>
        <p:nvSpPr>
          <p:cNvPr id="14" name="Text 12"/>
          <p:cNvSpPr txBox="1"/>
          <p:nvPr/>
        </p:nvSpPr>
        <p:spPr>
          <a:xfrm>
            <a:off x="9281160" y="1508760"/>
            <a:ext cx="2194560" cy="777240"/>
          </a:xfrm>
          <a:prstGeom prst="rect">
            <a:avLst/>
          </a:prstGeom>
          <a:noFill/>
          <a:ln/>
        </p:spPr>
        <p:txBody>
          <a:bodyPr wrap="square" lIns="0" tIns="0" rIns="0" bIns="0" rtlCol="0" anchor="t"/>
          <a:lstStyle/>
          <a:p>
            <a:pPr indent="0" marL="0">
              <a:buNone/>
            </a:pPr>
            <a:r>
              <a:rPr lang="en-US" sz="4000" b="1" dirty="0">
                <a:solidFill>
                  <a:srgbClr val="F2A541"/>
                </a:solidFill>
                <a:latin typeface="Cambria" pitchFamily="34" charset="0"/>
                <a:ea typeface="Cambria" pitchFamily="34" charset="-122"/>
                <a:cs typeface="Cambria" pitchFamily="34" charset="-120"/>
              </a:rPr>
              <a:t>168k</a:t>
            </a:r>
            <a:endParaRPr lang="en-US" sz="4000" dirty="0"/>
          </a:p>
        </p:txBody>
      </p:sp>
      <p:sp>
        <p:nvSpPr>
          <p:cNvPr id="15" name="Text 13"/>
          <p:cNvSpPr txBox="1"/>
          <p:nvPr/>
        </p:nvSpPr>
        <p:spPr>
          <a:xfrm>
            <a:off x="9281160" y="2286000"/>
            <a:ext cx="2194560" cy="777240"/>
          </a:xfrm>
          <a:prstGeom prst="rect">
            <a:avLst/>
          </a:prstGeom>
          <a:noFill/>
          <a:ln/>
        </p:spPr>
        <p:txBody>
          <a:bodyPr wrap="square" lIns="0" tIns="0" rIns="0" bIns="0" rtlCol="0" anchor="t"/>
          <a:lstStyle/>
          <a:p>
            <a:pPr indent="0" marL="0">
              <a:buNone/>
            </a:pPr>
            <a:r>
              <a:rPr lang="en-US" sz="1250" dirty="0">
                <a:solidFill>
                  <a:srgbClr val="C9D6E0"/>
                </a:solidFill>
                <a:latin typeface="Calibri" pitchFamily="34" charset="0"/>
                <a:ea typeface="Calibri" pitchFamily="34" charset="-122"/>
                <a:cs typeface="Calibri" pitchFamily="34" charset="-120"/>
              </a:rPr>
              <a:t>tokens of context used without losing track</a:t>
            </a:r>
            <a:endParaRPr lang="en-US" sz="1250" dirty="0"/>
          </a:p>
        </p:txBody>
      </p:sp>
      <p:sp>
        <p:nvSpPr>
          <p:cNvPr id="16" name="Shape 14"/>
          <p:cNvSpPr/>
          <p:nvPr/>
        </p:nvSpPr>
        <p:spPr>
          <a:xfrm>
            <a:off x="594360" y="3474720"/>
            <a:ext cx="274320" cy="274320"/>
          </a:xfrm>
          <a:prstGeom prst="ellipse">
            <a:avLst/>
          </a:prstGeom>
          <a:solidFill>
            <a:srgbClr val="0E9F8E"/>
          </a:solidFill>
          <a:ln w="6350">
            <a:solidFill>
              <a:srgbClr val="0E9F8E"/>
            </a:solidFill>
            <a:prstDash val="solid"/>
          </a:ln>
        </p:spPr>
      </p:sp>
      <p:sp>
        <p:nvSpPr>
          <p:cNvPr id="17" name="Text 15"/>
          <p:cNvSpPr txBox="1"/>
          <p:nvPr/>
        </p:nvSpPr>
        <p:spPr>
          <a:xfrm>
            <a:off x="1005840" y="3447288"/>
            <a:ext cx="4937760" cy="347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Document understanding</a:t>
            </a:r>
            <a:endParaRPr lang="en-US" sz="1600" dirty="0"/>
          </a:p>
        </p:txBody>
      </p:sp>
      <p:sp>
        <p:nvSpPr>
          <p:cNvPr id="18" name="Text 16"/>
          <p:cNvSpPr txBox="1"/>
          <p:nvPr/>
        </p:nvSpPr>
        <p:spPr>
          <a:xfrm>
            <a:off x="1005840" y="3813048"/>
            <a:ext cx="4937760" cy="822960"/>
          </a:xfrm>
          <a:prstGeom prst="rect">
            <a:avLst/>
          </a:prstGeom>
          <a:noFill/>
          <a:ln/>
        </p:spPr>
        <p:txBody>
          <a:bodyPr wrap="square" lIns="0" tIns="0" rIns="0" bIns="0" rtlCol="0" anchor="t"/>
          <a:lstStyle/>
          <a:p>
            <a:pPr indent="0" marL="0">
              <a:buNone/>
            </a:pPr>
            <a:r>
              <a:rPr lang="en-US" sz="1250" dirty="0">
                <a:solidFill>
                  <a:srgbClr val="C9D6E0"/>
                </a:solidFill>
                <a:latin typeface="Calibri" pitchFamily="34" charset="0"/>
                <a:ea typeface="Calibri" pitchFamily="34" charset="-122"/>
                <a:cs typeface="Calibri" pitchFamily="34" charset="-120"/>
              </a:rPr>
              <a:t>Pulled the deliverables, word limits and evidence rules out of the raw brief.</a:t>
            </a:r>
            <a:endParaRPr lang="en-US" sz="1250" dirty="0"/>
          </a:p>
        </p:txBody>
      </p:sp>
      <p:sp>
        <p:nvSpPr>
          <p:cNvPr id="19" name="Shape 17"/>
          <p:cNvSpPr/>
          <p:nvPr/>
        </p:nvSpPr>
        <p:spPr>
          <a:xfrm>
            <a:off x="6217920" y="3474720"/>
            <a:ext cx="274320" cy="274320"/>
          </a:xfrm>
          <a:prstGeom prst="ellipse">
            <a:avLst/>
          </a:prstGeom>
          <a:solidFill>
            <a:srgbClr val="0E9F8E"/>
          </a:solidFill>
          <a:ln w="6350">
            <a:solidFill>
              <a:srgbClr val="0E9F8E"/>
            </a:solidFill>
            <a:prstDash val="solid"/>
          </a:ln>
        </p:spPr>
      </p:sp>
      <p:sp>
        <p:nvSpPr>
          <p:cNvPr id="20" name="Text 18"/>
          <p:cNvSpPr txBox="1"/>
          <p:nvPr/>
        </p:nvSpPr>
        <p:spPr>
          <a:xfrm>
            <a:off x="6629400" y="3447288"/>
            <a:ext cx="4937760" cy="347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Plan</a:t>
            </a:r>
            <a:endParaRPr lang="en-US" sz="1600" dirty="0"/>
          </a:p>
        </p:txBody>
      </p:sp>
      <p:sp>
        <p:nvSpPr>
          <p:cNvPr id="21" name="Text 19"/>
          <p:cNvSpPr txBox="1"/>
          <p:nvPr/>
        </p:nvSpPr>
        <p:spPr>
          <a:xfrm>
            <a:off x="6629400" y="3813048"/>
            <a:ext cx="4937760" cy="822960"/>
          </a:xfrm>
          <a:prstGeom prst="rect">
            <a:avLst/>
          </a:prstGeom>
          <a:noFill/>
          <a:ln/>
        </p:spPr>
        <p:txBody>
          <a:bodyPr wrap="square" lIns="0" tIns="0" rIns="0" bIns="0" rtlCol="0" anchor="t"/>
          <a:lstStyle/>
          <a:p>
            <a:pPr indent="0" marL="0">
              <a:buNone/>
            </a:pPr>
            <a:r>
              <a:rPr lang="en-US" sz="1250" dirty="0">
                <a:solidFill>
                  <a:srgbClr val="C9D6E0"/>
                </a:solidFill>
                <a:latin typeface="Calibri" pitchFamily="34" charset="0"/>
                <a:ea typeface="Calibri" pitchFamily="34" charset="-122"/>
                <a:cs typeface="Calibri" pitchFamily="34" charset="-120"/>
              </a:rPr>
              <a:t>Scaffold → models → LLM clients → stores → agents → orchestrator → API/UI → tests → deploy.</a:t>
            </a:r>
            <a:endParaRPr lang="en-US" sz="1250" dirty="0"/>
          </a:p>
        </p:txBody>
      </p:sp>
      <p:sp>
        <p:nvSpPr>
          <p:cNvPr id="22" name="Shape 20"/>
          <p:cNvSpPr/>
          <p:nvPr/>
        </p:nvSpPr>
        <p:spPr>
          <a:xfrm>
            <a:off x="594360" y="4846320"/>
            <a:ext cx="274320" cy="274320"/>
          </a:xfrm>
          <a:prstGeom prst="ellipse">
            <a:avLst/>
          </a:prstGeom>
          <a:solidFill>
            <a:srgbClr val="0E9F8E"/>
          </a:solidFill>
          <a:ln w="6350">
            <a:solidFill>
              <a:srgbClr val="0E9F8E"/>
            </a:solidFill>
            <a:prstDash val="solid"/>
          </a:ln>
        </p:spPr>
      </p:sp>
      <p:sp>
        <p:nvSpPr>
          <p:cNvPr id="23" name="Text 21"/>
          <p:cNvSpPr txBox="1"/>
          <p:nvPr/>
        </p:nvSpPr>
        <p:spPr>
          <a:xfrm>
            <a:off x="1005840" y="4818888"/>
            <a:ext cx="4937760" cy="347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Full-repo context</a:t>
            </a:r>
            <a:endParaRPr lang="en-US" sz="1600" dirty="0"/>
          </a:p>
        </p:txBody>
      </p:sp>
      <p:sp>
        <p:nvSpPr>
          <p:cNvPr id="24" name="Text 22"/>
          <p:cNvSpPr txBox="1"/>
          <p:nvPr/>
        </p:nvSpPr>
        <p:spPr>
          <a:xfrm>
            <a:off x="1005840" y="5184648"/>
            <a:ext cx="4937760" cy="822960"/>
          </a:xfrm>
          <a:prstGeom prst="rect">
            <a:avLst/>
          </a:prstGeom>
          <a:noFill/>
          <a:ln/>
        </p:spPr>
        <p:txBody>
          <a:bodyPr wrap="square" lIns="0" tIns="0" rIns="0" bIns="0" rtlCol="0" anchor="t"/>
          <a:lstStyle/>
          <a:p>
            <a:pPr indent="0" marL="0">
              <a:buNone/>
            </a:pPr>
            <a:r>
              <a:rPr lang="en-US" sz="1250" dirty="0">
                <a:solidFill>
                  <a:srgbClr val="C9D6E0"/>
                </a:solidFill>
                <a:latin typeface="Calibri" pitchFamily="34" charset="0"/>
                <a:ea typeface="Calibri" pitchFamily="34" charset="-122"/>
                <a:cs typeface="Calibri" pitchFamily="34" charset="-120"/>
              </a:rPr>
              <a:t>Caught that the store and graph tools no longer matched the orchestrator's StoredNode and write() contract, and rewrote both.</a:t>
            </a:r>
            <a:endParaRPr lang="en-US" sz="1250" dirty="0"/>
          </a:p>
        </p:txBody>
      </p:sp>
      <p:sp>
        <p:nvSpPr>
          <p:cNvPr id="25" name="Shape 23"/>
          <p:cNvSpPr/>
          <p:nvPr/>
        </p:nvSpPr>
        <p:spPr>
          <a:xfrm>
            <a:off x="6217920" y="4846320"/>
            <a:ext cx="274320" cy="274320"/>
          </a:xfrm>
          <a:prstGeom prst="ellipse">
            <a:avLst/>
          </a:prstGeom>
          <a:solidFill>
            <a:srgbClr val="0E9F8E"/>
          </a:solidFill>
          <a:ln w="6350">
            <a:solidFill>
              <a:srgbClr val="0E9F8E"/>
            </a:solidFill>
            <a:prstDash val="solid"/>
          </a:ln>
        </p:spPr>
      </p:sp>
      <p:sp>
        <p:nvSpPr>
          <p:cNvPr id="26" name="Text 24"/>
          <p:cNvSpPr txBox="1"/>
          <p:nvPr/>
        </p:nvSpPr>
        <p:spPr>
          <a:xfrm>
            <a:off x="6629400" y="4818888"/>
            <a:ext cx="4937760" cy="347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Bob inside the product</a:t>
            </a:r>
            <a:endParaRPr lang="en-US" sz="1600" dirty="0"/>
          </a:p>
        </p:txBody>
      </p:sp>
      <p:sp>
        <p:nvSpPr>
          <p:cNvPr id="27" name="Text 25"/>
          <p:cNvSpPr txBox="1"/>
          <p:nvPr/>
        </p:nvSpPr>
        <p:spPr>
          <a:xfrm>
            <a:off x="6629400" y="5184648"/>
            <a:ext cx="4937760" cy="822960"/>
          </a:xfrm>
          <a:prstGeom prst="rect">
            <a:avLst/>
          </a:prstGeom>
          <a:noFill/>
          <a:ln/>
        </p:spPr>
        <p:txBody>
          <a:bodyPr wrap="square" lIns="0" tIns="0" rIns="0" bIns="0" rtlCol="0" anchor="t"/>
          <a:lstStyle/>
          <a:p>
            <a:pPr indent="0" marL="0">
              <a:buNone/>
            </a:pPr>
            <a:r>
              <a:rPr lang="en-US" sz="1250" dirty="0">
                <a:solidFill>
                  <a:srgbClr val="C9D6E0"/>
                </a:solidFill>
                <a:latin typeface="Calibri" pitchFamily="34" charset="0"/>
                <a:ea typeface="Calibri" pitchFamily="34" charset="-122"/>
                <a:cs typeface="Calibri" pitchFamily="34" charset="-120"/>
              </a:rPr>
              <a:t>LLM_PROVIDER=bobshell routes every agent call through Bob Shell. .bobignore keeps secrets out of Bob's context.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9144000" cy="274320"/>
          </a:xfrm>
          <a:prstGeom prst="rect">
            <a:avLst/>
          </a:prstGeom>
          <a:noFill/>
          <a:ln/>
        </p:spPr>
        <p:txBody>
          <a:bodyPr wrap="square" lIns="0" tIns="0" rIns="0" bIns="0" rtlCol="0" anchor="t"/>
          <a:lstStyle/>
          <a:p>
            <a:pPr indent="0" marL="0">
              <a:buNone/>
            </a:pPr>
            <a:r>
              <a:rPr lang="en-US" sz="1100" b="1" spc="300" kern="0" dirty="0">
                <a:solidFill>
                  <a:srgbClr val="0E9F8E"/>
                </a:solidFill>
                <a:latin typeface="Calibri" pitchFamily="34" charset="0"/>
                <a:ea typeface="Calibri" pitchFamily="34" charset="-122"/>
                <a:cs typeface="Calibri" pitchFamily="34" charset="-120"/>
              </a:rPr>
              <a:t>IBM TECHNOLOGY AND ENGINEERING</a:t>
            </a:r>
            <a:endParaRPr lang="en-US" sz="11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400" b="1" dirty="0">
                <a:solidFill>
                  <a:srgbClr val="13212E"/>
                </a:solidFill>
                <a:latin typeface="Cambria" pitchFamily="34" charset="0"/>
                <a:ea typeface="Cambria" pitchFamily="34" charset="-122"/>
                <a:cs typeface="Cambria" pitchFamily="34" charset="-120"/>
              </a:rPr>
              <a:t>IBM-first, provider-agnostic, tested offline</a:t>
            </a:r>
            <a:endParaRPr lang="en-US" sz="3400" dirty="0"/>
          </a:p>
        </p:txBody>
      </p:sp>
      <p:sp>
        <p:nvSpPr>
          <p:cNvPr id="4" name="Shape 2"/>
          <p:cNvSpPr/>
          <p:nvPr/>
        </p:nvSpPr>
        <p:spPr>
          <a:xfrm>
            <a:off x="548640" y="1371600"/>
            <a:ext cx="5486400" cy="4526280"/>
          </a:xfrm>
          <a:prstGeom prst="roundRect">
            <a:avLst>
              <a:gd name="adj" fmla="val 2424"/>
            </a:avLst>
          </a:prstGeom>
          <a:solidFill>
            <a:srgbClr val="EEF3F6"/>
          </a:solidFill>
          <a:ln w="6350">
            <a:solidFill>
              <a:srgbClr val="EEF3F6"/>
            </a:solidFill>
            <a:prstDash val="solid"/>
          </a:ln>
        </p:spPr>
      </p:sp>
      <p:sp>
        <p:nvSpPr>
          <p:cNvPr id="5" name="Text 3"/>
          <p:cNvSpPr txBox="1"/>
          <p:nvPr/>
        </p:nvSpPr>
        <p:spPr>
          <a:xfrm>
            <a:off x="868680" y="1572768"/>
            <a:ext cx="4572000" cy="411480"/>
          </a:xfrm>
          <a:prstGeom prst="rect">
            <a:avLst/>
          </a:prstGeom>
          <a:noFill/>
          <a:ln/>
        </p:spPr>
        <p:txBody>
          <a:bodyPr wrap="square" lIns="0" tIns="0" rIns="0" bIns="0" rtlCol="0" anchor="t"/>
          <a:lstStyle/>
          <a:p>
            <a:pPr indent="0" marL="0">
              <a:buNone/>
            </a:pPr>
            <a:r>
              <a:rPr lang="en-US" sz="2000" b="1" dirty="0">
                <a:solidFill>
                  <a:srgbClr val="13212E"/>
                </a:solidFill>
                <a:latin typeface="Calibri" pitchFamily="34" charset="0"/>
                <a:ea typeface="Calibri" pitchFamily="34" charset="-122"/>
                <a:cs typeface="Calibri" pitchFamily="34" charset="-120"/>
              </a:rPr>
              <a:t>IBM stack</a:t>
            </a:r>
            <a:endParaRPr lang="en-US" sz="2000" dirty="0"/>
          </a:p>
        </p:txBody>
      </p:sp>
      <p:sp>
        <p:nvSpPr>
          <p:cNvPr id="6" name="Shape 4"/>
          <p:cNvSpPr/>
          <p:nvPr/>
        </p:nvSpPr>
        <p:spPr>
          <a:xfrm>
            <a:off x="868680" y="2240280"/>
            <a:ext cx="457200" cy="457200"/>
          </a:xfrm>
          <a:prstGeom prst="ellipse">
            <a:avLst/>
          </a:prstGeom>
          <a:solidFill>
            <a:srgbClr val="0E9F8E"/>
          </a:solidFill>
          <a:ln w="6350">
            <a:solidFill>
              <a:srgbClr val="0E9F8E"/>
            </a:solidFill>
            <a:prstDash val="solid"/>
          </a:ln>
        </p:spPr>
      </p:sp>
      <p:sp>
        <p:nvSpPr>
          <p:cNvPr id="7" name="Text 5"/>
          <p:cNvSpPr txBox="1"/>
          <p:nvPr/>
        </p:nvSpPr>
        <p:spPr>
          <a:xfrm>
            <a:off x="1508760" y="2148840"/>
            <a:ext cx="4297680" cy="365760"/>
          </a:xfrm>
          <a:prstGeom prst="rect">
            <a:avLst/>
          </a:prstGeom>
          <a:noFill/>
          <a:ln/>
        </p:spPr>
        <p:txBody>
          <a:bodyPr wrap="square" lIns="0" tIns="0" rIns="0" bIns="0" rtlCol="0" anchor="t"/>
          <a:lstStyle/>
          <a:p>
            <a:pPr indent="0" marL="0">
              <a:buNone/>
            </a:pPr>
            <a:r>
              <a:rPr lang="en-US" sz="1600" b="1" dirty="0">
                <a:solidFill>
                  <a:srgbClr val="13212E"/>
                </a:solidFill>
                <a:latin typeface="Calibri" pitchFamily="34" charset="0"/>
                <a:ea typeface="Calibri" pitchFamily="34" charset="-122"/>
                <a:cs typeface="Calibri" pitchFamily="34" charset="-120"/>
              </a:rPr>
              <a:t>IBM Bob 2.0</a:t>
            </a:r>
            <a:endParaRPr lang="en-US" sz="1600" dirty="0"/>
          </a:p>
        </p:txBody>
      </p:sp>
      <p:sp>
        <p:nvSpPr>
          <p:cNvPr id="8" name="Text 6"/>
          <p:cNvSpPr txBox="1"/>
          <p:nvPr/>
        </p:nvSpPr>
        <p:spPr>
          <a:xfrm>
            <a:off x="1508760" y="2514600"/>
            <a:ext cx="4297680" cy="68580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Planned and wrote the codebase in Agent mode</a:t>
            </a:r>
            <a:endParaRPr lang="en-US" sz="1300" dirty="0"/>
          </a:p>
        </p:txBody>
      </p:sp>
      <p:sp>
        <p:nvSpPr>
          <p:cNvPr id="9" name="Shape 7"/>
          <p:cNvSpPr/>
          <p:nvPr/>
        </p:nvSpPr>
        <p:spPr>
          <a:xfrm>
            <a:off x="868680" y="3383280"/>
            <a:ext cx="457200" cy="457200"/>
          </a:xfrm>
          <a:prstGeom prst="ellipse">
            <a:avLst/>
          </a:prstGeom>
          <a:solidFill>
            <a:srgbClr val="0E9F8E"/>
          </a:solidFill>
          <a:ln w="6350">
            <a:solidFill>
              <a:srgbClr val="0E9F8E"/>
            </a:solidFill>
            <a:prstDash val="solid"/>
          </a:ln>
        </p:spPr>
      </p:sp>
      <p:sp>
        <p:nvSpPr>
          <p:cNvPr id="10" name="Text 8"/>
          <p:cNvSpPr txBox="1"/>
          <p:nvPr/>
        </p:nvSpPr>
        <p:spPr>
          <a:xfrm>
            <a:off x="1508760" y="3291840"/>
            <a:ext cx="4297680" cy="365760"/>
          </a:xfrm>
          <a:prstGeom prst="rect">
            <a:avLst/>
          </a:prstGeom>
          <a:noFill/>
          <a:ln/>
        </p:spPr>
        <p:txBody>
          <a:bodyPr wrap="square" lIns="0" tIns="0" rIns="0" bIns="0" rtlCol="0" anchor="t"/>
          <a:lstStyle/>
          <a:p>
            <a:pPr indent="0" marL="0">
              <a:buNone/>
            </a:pPr>
            <a:r>
              <a:rPr lang="en-US" sz="1600" b="1" dirty="0">
                <a:solidFill>
                  <a:srgbClr val="13212E"/>
                </a:solidFill>
                <a:latin typeface="Calibri" pitchFamily="34" charset="0"/>
                <a:ea typeface="Calibri" pitchFamily="34" charset="-122"/>
                <a:cs typeface="Calibri" pitchFamily="34" charset="-120"/>
              </a:rPr>
              <a:t>Bob Shell</a:t>
            </a:r>
            <a:endParaRPr lang="en-US" sz="1600" dirty="0"/>
          </a:p>
        </p:txBody>
      </p:sp>
      <p:sp>
        <p:nvSpPr>
          <p:cNvPr id="11" name="Text 9"/>
          <p:cNvSpPr txBox="1"/>
          <p:nvPr/>
        </p:nvSpPr>
        <p:spPr>
          <a:xfrm>
            <a:off x="1508760" y="3657600"/>
            <a:ext cx="4297680" cy="68580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Selectable runtime provider: LLM_PROVIDER=bobshell</a:t>
            </a:r>
            <a:endParaRPr lang="en-US" sz="1300" dirty="0"/>
          </a:p>
        </p:txBody>
      </p:sp>
      <p:sp>
        <p:nvSpPr>
          <p:cNvPr id="12" name="Shape 10"/>
          <p:cNvSpPr/>
          <p:nvPr/>
        </p:nvSpPr>
        <p:spPr>
          <a:xfrm>
            <a:off x="868680" y="4526280"/>
            <a:ext cx="457200" cy="457200"/>
          </a:xfrm>
          <a:prstGeom prst="ellipse">
            <a:avLst/>
          </a:prstGeom>
          <a:solidFill>
            <a:srgbClr val="F2A541"/>
          </a:solidFill>
          <a:ln w="6350">
            <a:solidFill>
              <a:srgbClr val="F2A541"/>
            </a:solidFill>
            <a:prstDash val="solid"/>
          </a:ln>
        </p:spPr>
      </p:sp>
      <p:sp>
        <p:nvSpPr>
          <p:cNvPr id="13" name="Text 11"/>
          <p:cNvSpPr txBox="1"/>
          <p:nvPr/>
        </p:nvSpPr>
        <p:spPr>
          <a:xfrm>
            <a:off x="1508760" y="4434840"/>
            <a:ext cx="4297680" cy="365760"/>
          </a:xfrm>
          <a:prstGeom prst="rect">
            <a:avLst/>
          </a:prstGeom>
          <a:noFill/>
          <a:ln/>
        </p:spPr>
        <p:txBody>
          <a:bodyPr wrap="square" lIns="0" tIns="0" rIns="0" bIns="0" rtlCol="0" anchor="t"/>
          <a:lstStyle/>
          <a:p>
            <a:pPr indent="0" marL="0">
              <a:buNone/>
            </a:pPr>
            <a:r>
              <a:rPr lang="en-US" sz="1600" b="1" dirty="0">
                <a:solidFill>
                  <a:srgbClr val="13212E"/>
                </a:solidFill>
                <a:latin typeface="Calibri" pitchFamily="34" charset="0"/>
                <a:ea typeface="Calibri" pitchFamily="34" charset="-122"/>
                <a:cs typeface="Calibri" pitchFamily="34" charset="-120"/>
              </a:rPr>
              <a:t>watsonx.ai</a:t>
            </a:r>
            <a:endParaRPr lang="en-US" sz="1600" dirty="0"/>
          </a:p>
        </p:txBody>
      </p:sp>
      <p:sp>
        <p:nvSpPr>
          <p:cNvPr id="14" name="Text 12"/>
          <p:cNvSpPr txBox="1"/>
          <p:nvPr/>
        </p:nvSpPr>
        <p:spPr>
          <a:xfrm>
            <a:off x="1508760" y="4800600"/>
            <a:ext cx="4297680" cy="68580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Default provider via the ibm-watsonx-ai SDK, Granite 3 8B Instruct, temperature 0</a:t>
            </a:r>
            <a:endParaRPr lang="en-US" sz="1300" dirty="0"/>
          </a:p>
        </p:txBody>
      </p:sp>
      <p:sp>
        <p:nvSpPr>
          <p:cNvPr id="15" name="Text 13"/>
          <p:cNvSpPr txBox="1"/>
          <p:nvPr/>
        </p:nvSpPr>
        <p:spPr>
          <a:xfrm>
            <a:off x="868680" y="5440680"/>
            <a:ext cx="4937760" cy="365760"/>
          </a:xfrm>
          <a:prstGeom prst="rect">
            <a:avLst/>
          </a:prstGeom>
          <a:noFill/>
          <a:ln/>
        </p:spPr>
        <p:txBody>
          <a:bodyPr wrap="square" lIns="0" tIns="0" rIns="0" bIns="0" rtlCol="0" anchor="t"/>
          <a:lstStyle/>
          <a:p>
            <a:pPr indent="0" marL="0">
              <a:buNone/>
            </a:pPr>
            <a:r>
              <a:rPr lang="en-US" sz="1200" i="1" dirty="0">
                <a:solidFill>
                  <a:srgbClr val="0E9F8E"/>
                </a:solidFill>
                <a:latin typeface="Calibri" pitchFamily="34" charset="0"/>
                <a:ea typeface="Calibri" pitchFamily="34" charset="-122"/>
                <a:cs typeface="Calibri" pitchFamily="34" charset="-120"/>
              </a:rPr>
              <a:t>Switching models is a single environment variable. No agent code changes.</a:t>
            </a:r>
            <a:endParaRPr lang="en-US" sz="1200" dirty="0"/>
          </a:p>
        </p:txBody>
      </p:sp>
      <p:sp>
        <p:nvSpPr>
          <p:cNvPr id="16" name="Shape 14"/>
          <p:cNvSpPr/>
          <p:nvPr/>
        </p:nvSpPr>
        <p:spPr>
          <a:xfrm>
            <a:off x="6355080" y="1371600"/>
            <a:ext cx="5303520" cy="1371600"/>
          </a:xfrm>
          <a:prstGeom prst="roundRect">
            <a:avLst>
              <a:gd name="adj" fmla="val 8000"/>
            </a:avLst>
          </a:prstGeom>
          <a:solidFill>
            <a:srgbClr val="0B1D2A"/>
          </a:solidFill>
          <a:ln w="6350">
            <a:solidFill>
              <a:srgbClr val="0B1D2A"/>
            </a:solidFill>
            <a:prstDash val="solid"/>
          </a:ln>
        </p:spPr>
      </p:sp>
      <p:sp>
        <p:nvSpPr>
          <p:cNvPr id="17" name="Text 15"/>
          <p:cNvSpPr txBox="1"/>
          <p:nvPr/>
        </p:nvSpPr>
        <p:spPr>
          <a:xfrm>
            <a:off x="6629400" y="1600200"/>
            <a:ext cx="1280160" cy="914400"/>
          </a:xfrm>
          <a:prstGeom prst="rect">
            <a:avLst/>
          </a:prstGeom>
          <a:noFill/>
          <a:ln/>
        </p:spPr>
        <p:txBody>
          <a:bodyPr wrap="square" lIns="0" tIns="0" rIns="0" bIns="0" rtlCol="0" anchor="ctr"/>
          <a:lstStyle/>
          <a:p>
            <a:pPr indent="0" marL="0">
              <a:buNone/>
            </a:pPr>
            <a:r>
              <a:rPr lang="en-US" sz="4400" b="1" dirty="0">
                <a:solidFill>
                  <a:srgbClr val="F2A541"/>
                </a:solidFill>
                <a:latin typeface="Cambria" pitchFamily="34" charset="0"/>
                <a:ea typeface="Cambria" pitchFamily="34" charset="-122"/>
                <a:cs typeface="Cambria" pitchFamily="34" charset="-120"/>
              </a:rPr>
              <a:t>34</a:t>
            </a:r>
            <a:endParaRPr lang="en-US" sz="4400" dirty="0"/>
          </a:p>
        </p:txBody>
      </p:sp>
      <p:sp>
        <p:nvSpPr>
          <p:cNvPr id="18" name="Text 16"/>
          <p:cNvSpPr txBox="1"/>
          <p:nvPr/>
        </p:nvSpPr>
        <p:spPr>
          <a:xfrm>
            <a:off x="7955280" y="1600200"/>
            <a:ext cx="3520440" cy="9144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tests, all offline: fake LLM, in-memory store, no keys</a:t>
            </a:r>
            <a:endParaRPr lang="en-US" sz="1450" dirty="0"/>
          </a:p>
        </p:txBody>
      </p:sp>
      <p:sp>
        <p:nvSpPr>
          <p:cNvPr id="19" name="Shape 17"/>
          <p:cNvSpPr/>
          <p:nvPr/>
        </p:nvSpPr>
        <p:spPr>
          <a:xfrm>
            <a:off x="6355080" y="2944368"/>
            <a:ext cx="5303520" cy="1371600"/>
          </a:xfrm>
          <a:prstGeom prst="roundRect">
            <a:avLst>
              <a:gd name="adj" fmla="val 8000"/>
            </a:avLst>
          </a:prstGeom>
          <a:solidFill>
            <a:srgbClr val="EEF3F6"/>
          </a:solidFill>
          <a:ln w="6350">
            <a:solidFill>
              <a:srgbClr val="EEF3F6"/>
            </a:solidFill>
            <a:prstDash val="solid"/>
          </a:ln>
        </p:spPr>
      </p:sp>
      <p:sp>
        <p:nvSpPr>
          <p:cNvPr id="20" name="Text 18"/>
          <p:cNvSpPr txBox="1"/>
          <p:nvPr/>
        </p:nvSpPr>
        <p:spPr>
          <a:xfrm>
            <a:off x="6629400" y="3172968"/>
            <a:ext cx="1280160" cy="914400"/>
          </a:xfrm>
          <a:prstGeom prst="rect">
            <a:avLst/>
          </a:prstGeom>
          <a:noFill/>
          <a:ln/>
        </p:spPr>
        <p:txBody>
          <a:bodyPr wrap="square" lIns="0" tIns="0" rIns="0" bIns="0" rtlCol="0" anchor="ctr"/>
          <a:lstStyle/>
          <a:p>
            <a:pPr indent="0" marL="0">
              <a:buNone/>
            </a:pPr>
            <a:r>
              <a:rPr lang="en-US" sz="4400" b="1" dirty="0">
                <a:solidFill>
                  <a:srgbClr val="0E9F8E"/>
                </a:solidFill>
                <a:latin typeface="Cambria" pitchFamily="34" charset="0"/>
                <a:ea typeface="Cambria" pitchFamily="34" charset="-122"/>
                <a:cs typeface="Cambria" pitchFamily="34" charset="-120"/>
              </a:rPr>
              <a:t>4</a:t>
            </a:r>
            <a:endParaRPr lang="en-US" sz="4400" dirty="0"/>
          </a:p>
        </p:txBody>
      </p:sp>
      <p:sp>
        <p:nvSpPr>
          <p:cNvPr id="21" name="Text 19"/>
          <p:cNvSpPr txBox="1"/>
          <p:nvPr/>
        </p:nvSpPr>
        <p:spPr>
          <a:xfrm>
            <a:off x="7955280" y="3172968"/>
            <a:ext cx="3520440" cy="914400"/>
          </a:xfrm>
          <a:prstGeom prst="rect">
            <a:avLst/>
          </a:prstGeom>
          <a:noFill/>
          <a:ln/>
        </p:spPr>
        <p:txBody>
          <a:bodyPr wrap="square" lIns="0" tIns="0" rIns="0" bIns="0" rtlCol="0" anchor="ctr"/>
          <a:lstStyle/>
          <a:p>
            <a:pPr indent="0" marL="0">
              <a:buNone/>
            </a:pPr>
            <a:r>
              <a:rPr lang="en-US" sz="1450" dirty="0">
                <a:solidFill>
                  <a:srgbClr val="13212E"/>
                </a:solidFill>
                <a:latin typeface="Calibri" pitchFamily="34" charset="0"/>
                <a:ea typeface="Calibri" pitchFamily="34" charset="-122"/>
                <a:cs typeface="Calibri" pitchFamily="34" charset="-120"/>
              </a:rPr>
              <a:t>deploy targets: Docker, HF Spaces, Render, Railway</a:t>
            </a:r>
            <a:endParaRPr lang="en-US" sz="1450" dirty="0"/>
          </a:p>
        </p:txBody>
      </p:sp>
      <p:sp>
        <p:nvSpPr>
          <p:cNvPr id="22" name="Shape 20"/>
          <p:cNvSpPr/>
          <p:nvPr/>
        </p:nvSpPr>
        <p:spPr>
          <a:xfrm>
            <a:off x="6355080" y="4517136"/>
            <a:ext cx="5303520" cy="1371600"/>
          </a:xfrm>
          <a:prstGeom prst="roundRect">
            <a:avLst>
              <a:gd name="adj" fmla="val 8000"/>
            </a:avLst>
          </a:prstGeom>
          <a:solidFill>
            <a:srgbClr val="EEF3F6"/>
          </a:solidFill>
          <a:ln w="6350">
            <a:solidFill>
              <a:srgbClr val="EEF3F6"/>
            </a:solidFill>
            <a:prstDash val="solid"/>
          </a:ln>
        </p:spPr>
      </p:sp>
      <p:sp>
        <p:nvSpPr>
          <p:cNvPr id="23" name="Text 21"/>
          <p:cNvSpPr txBox="1"/>
          <p:nvPr/>
        </p:nvSpPr>
        <p:spPr>
          <a:xfrm>
            <a:off x="6629400" y="4745736"/>
            <a:ext cx="1280160" cy="914400"/>
          </a:xfrm>
          <a:prstGeom prst="rect">
            <a:avLst/>
          </a:prstGeom>
          <a:noFill/>
          <a:ln/>
        </p:spPr>
        <p:txBody>
          <a:bodyPr wrap="square" lIns="0" tIns="0" rIns="0" bIns="0" rtlCol="0" anchor="ctr"/>
          <a:lstStyle/>
          <a:p>
            <a:pPr indent="0" marL="0">
              <a:buNone/>
            </a:pPr>
            <a:r>
              <a:rPr lang="en-US" sz="4400" b="1" dirty="0">
                <a:solidFill>
                  <a:srgbClr val="0E9F8E"/>
                </a:solidFill>
                <a:latin typeface="Cambria" pitchFamily="34" charset="0"/>
                <a:ea typeface="Cambria" pitchFamily="34" charset="-122"/>
                <a:cs typeface="Cambria" pitchFamily="34" charset="-120"/>
              </a:rPr>
              <a:t>0</a:t>
            </a:r>
            <a:endParaRPr lang="en-US" sz="4400" dirty="0"/>
          </a:p>
        </p:txBody>
      </p:sp>
      <p:sp>
        <p:nvSpPr>
          <p:cNvPr id="24" name="Text 22"/>
          <p:cNvSpPr txBox="1"/>
          <p:nvPr/>
        </p:nvSpPr>
        <p:spPr>
          <a:xfrm>
            <a:off x="7955280" y="4745736"/>
            <a:ext cx="3520440" cy="914400"/>
          </a:xfrm>
          <a:prstGeom prst="rect">
            <a:avLst/>
          </a:prstGeom>
          <a:noFill/>
          <a:ln/>
        </p:spPr>
        <p:txBody>
          <a:bodyPr wrap="square" lIns="0" tIns="0" rIns="0" bIns="0" rtlCol="0" anchor="ctr"/>
          <a:lstStyle/>
          <a:p>
            <a:pPr indent="0" marL="0">
              <a:buNone/>
            </a:pPr>
            <a:r>
              <a:rPr lang="en-US" sz="1450" dirty="0">
                <a:solidFill>
                  <a:srgbClr val="13212E"/>
                </a:solidFill>
                <a:latin typeface="Calibri" pitchFamily="34" charset="0"/>
                <a:ea typeface="Calibri" pitchFamily="34" charset="-122"/>
                <a:cs typeface="Calibri" pitchFamily="34" charset="-120"/>
              </a:rPr>
              <a:t>secrets in Bob's context, enforced by .bobignore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D2A"/>
        </a:solidFill>
      </p:bgPr>
    </p:bg>
    <p:spTree>
      <p:nvGrpSpPr>
        <p:cNvPr id="1" name=""/>
        <p:cNvGrpSpPr/>
        <p:nvPr/>
      </p:nvGrpSpPr>
      <p:grpSpPr>
        <a:xfrm>
          <a:off x="0" y="0"/>
          <a:ext cx="0" cy="0"/>
          <a:chOff x="0" y="0"/>
          <a:chExt cx="0" cy="0"/>
        </a:xfrm>
      </p:grpSpPr>
      <p:sp>
        <p:nvSpPr>
          <p:cNvPr id="2" name="Text 0"/>
          <p:cNvSpPr txBox="1"/>
          <p:nvPr/>
        </p:nvSpPr>
        <p:spPr>
          <a:xfrm>
            <a:off x="640080" y="1005840"/>
            <a:ext cx="658368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Cartograph makes reading a codebase a one-time cost.</a:t>
            </a:r>
            <a:endParaRPr lang="en-US" sz="3600" dirty="0"/>
          </a:p>
        </p:txBody>
      </p:sp>
      <p:sp>
        <p:nvSpPr>
          <p:cNvPr id="3" name="Text 1"/>
          <p:cNvSpPr txBox="1"/>
          <p:nvPr/>
        </p:nvSpPr>
        <p:spPr>
          <a:xfrm>
            <a:off x="640080" y="3063240"/>
            <a:ext cx="4572000" cy="365760"/>
          </a:xfrm>
          <a:prstGeom prst="rect">
            <a:avLst/>
          </a:prstGeom>
          <a:noFill/>
          <a:ln/>
        </p:spPr>
        <p:txBody>
          <a:bodyPr wrap="square" lIns="0" tIns="0" rIns="0" bIns="0" rtlCol="0" anchor="t"/>
          <a:lstStyle/>
          <a:p>
            <a:pPr indent="0" marL="0">
              <a:buNone/>
            </a:pPr>
            <a:r>
              <a:rPr lang="en-US" sz="1600" b="1" dirty="0">
                <a:solidFill>
                  <a:srgbClr val="F2A541"/>
                </a:solidFill>
                <a:latin typeface="Calibri" pitchFamily="34" charset="0"/>
                <a:ea typeface="Calibri" pitchFamily="34" charset="-122"/>
                <a:cs typeface="Calibri" pitchFamily="34" charset="-120"/>
              </a:rPr>
              <a:t>What's next</a:t>
            </a:r>
            <a:endParaRPr lang="en-US" sz="1600" dirty="0"/>
          </a:p>
        </p:txBody>
      </p:sp>
      <p:sp>
        <p:nvSpPr>
          <p:cNvPr id="4" name="Text 2"/>
          <p:cNvSpPr txBox="1"/>
          <p:nvPr/>
        </p:nvSpPr>
        <p:spPr>
          <a:xfrm>
            <a:off x="640080" y="3520440"/>
            <a:ext cx="640080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C9D6E0"/>
                </a:solidFill>
                <a:latin typeface="Calibri" pitchFamily="34" charset="0"/>
                <a:ea typeface="Calibri" pitchFamily="34" charset="-122"/>
                <a:cs typeface="Calibri" pitchFamily="34" charset="-120"/>
              </a:rPr>
              <a:t>watsonx Orchestrate agent over /analyse and /ask, to ask the graph from chat</a:t>
            </a:r>
            <a:endParaRPr lang="en-US" sz="1500" dirty="0"/>
          </a:p>
          <a:p>
            <a:pPr marL="342900" indent="-342900">
              <a:spcAft>
                <a:spcPts val="800"/>
              </a:spcAft>
              <a:buSzPct val="100000"/>
              <a:buChar char="•"/>
            </a:pPr>
            <a:r>
              <a:rPr lang="en-US" sz="1500" dirty="0">
                <a:solidFill>
                  <a:srgbClr val="C9D6E0"/>
                </a:solidFill>
                <a:latin typeface="Calibri" pitchFamily="34" charset="0"/>
                <a:ea typeface="Calibri" pitchFamily="34" charset="-122"/>
                <a:cs typeface="Calibri" pitchFamily="34" charset="-120"/>
              </a:rPr>
              <a:t>Incremental re-analysis from git diff, so the graph stays current</a:t>
            </a:r>
            <a:endParaRPr lang="en-US" sz="1500" dirty="0"/>
          </a:p>
          <a:p>
            <a:pPr marL="342900" indent="-342900">
              <a:spcAft>
                <a:spcPts val="800"/>
              </a:spcAft>
              <a:buSzPct val="100000"/>
              <a:buChar char="•"/>
            </a:pPr>
            <a:r>
              <a:rPr lang="en-US" sz="1500" dirty="0">
                <a:solidFill>
                  <a:srgbClr val="C9D6E0"/>
                </a:solidFill>
                <a:latin typeface="Calibri" pitchFamily="34" charset="0"/>
                <a:ea typeface="Calibri" pitchFamily="34" charset="-122"/>
                <a:cs typeface="Calibri" pitchFamily="34" charset="-120"/>
              </a:rPr>
              <a:t>PR-review mode: show the parts of the graph a diff touches</a:t>
            </a:r>
            <a:endParaRPr lang="en-US" sz="1500" dirty="0"/>
          </a:p>
        </p:txBody>
      </p:sp>
      <p:sp>
        <p:nvSpPr>
          <p:cNvPr id="5" name="Text 3"/>
          <p:cNvSpPr txBox="1"/>
          <p:nvPr/>
        </p:nvSpPr>
        <p:spPr>
          <a:xfrm>
            <a:off x="640080" y="5760720"/>
            <a:ext cx="6400800" cy="365760"/>
          </a:xfrm>
          <a:prstGeom prst="rect">
            <a:avLst/>
          </a:prstGeom>
          <a:noFill/>
          <a:ln/>
        </p:spPr>
        <p:txBody>
          <a:bodyPr wrap="square" lIns="0" tIns="0" rIns="0" bIns="0" rtlCol="0" anchor="t"/>
          <a:lstStyle/>
          <a:p>
            <a:pPr indent="0" marL="0">
              <a:buNone/>
            </a:pPr>
            <a:r>
              <a:rPr lang="en-US" sz="1600" b="1" dirty="0">
                <a:solidFill>
                  <a:srgbClr val="0E9F8E"/>
                </a:solidFill>
                <a:latin typeface="Calibri" pitchFamily="34" charset="0"/>
                <a:ea typeface="Calibri" pitchFamily="34" charset="-122"/>
                <a:cs typeface="Calibri" pitchFamily="34" charset="-120"/>
              </a:rPr>
              <a:t>github.com/Poornasri2003/code-analyser</a:t>
            </a:r>
            <a:endParaRPr lang="en-US" sz="1600" dirty="0"/>
          </a:p>
        </p:txBody>
      </p:sp>
      <p:sp>
        <p:nvSpPr>
          <p:cNvPr id="6" name="Shape 4"/>
          <p:cNvSpPr/>
          <p:nvPr/>
        </p:nvSpPr>
        <p:spPr>
          <a:xfrm>
            <a:off x="8001000" y="1554480"/>
            <a:ext cx="1417320" cy="1737360"/>
          </a:xfrm>
          <a:prstGeom prst="line">
            <a:avLst/>
          </a:prstGeom>
          <a:noFill/>
          <a:ln w="19050">
            <a:solidFill>
              <a:srgbClr val="2F5673"/>
            </a:solidFill>
            <a:prstDash val="solid"/>
          </a:ln>
        </p:spPr>
      </p:sp>
      <p:sp>
        <p:nvSpPr>
          <p:cNvPr id="7" name="Shape 5"/>
          <p:cNvSpPr/>
          <p:nvPr/>
        </p:nvSpPr>
        <p:spPr>
          <a:xfrm flipV="1">
            <a:off x="9418320" y="1737360"/>
            <a:ext cx="1737360" cy="1554480"/>
          </a:xfrm>
          <a:prstGeom prst="line">
            <a:avLst/>
          </a:prstGeom>
          <a:noFill/>
          <a:ln w="19050">
            <a:solidFill>
              <a:srgbClr val="2F5673"/>
            </a:solidFill>
            <a:prstDash val="solid"/>
          </a:ln>
        </p:spPr>
      </p:sp>
      <p:sp>
        <p:nvSpPr>
          <p:cNvPr id="8" name="Shape 6"/>
          <p:cNvSpPr/>
          <p:nvPr/>
        </p:nvSpPr>
        <p:spPr>
          <a:xfrm>
            <a:off x="9418320" y="3291840"/>
            <a:ext cx="1874520" cy="1554480"/>
          </a:xfrm>
          <a:prstGeom prst="line">
            <a:avLst/>
          </a:prstGeom>
          <a:noFill/>
          <a:ln w="19050">
            <a:solidFill>
              <a:srgbClr val="2F5673"/>
            </a:solidFill>
            <a:prstDash val="solid"/>
          </a:ln>
        </p:spPr>
      </p:sp>
      <p:sp>
        <p:nvSpPr>
          <p:cNvPr id="9" name="Shape 7"/>
          <p:cNvSpPr/>
          <p:nvPr/>
        </p:nvSpPr>
        <p:spPr>
          <a:xfrm flipV="1">
            <a:off x="8229600" y="3291840"/>
            <a:ext cx="1188720" cy="1920240"/>
          </a:xfrm>
          <a:prstGeom prst="line">
            <a:avLst/>
          </a:prstGeom>
          <a:noFill/>
          <a:ln w="19050">
            <a:solidFill>
              <a:srgbClr val="2F5673"/>
            </a:solidFill>
            <a:prstDash val="solid"/>
          </a:ln>
        </p:spPr>
      </p:sp>
      <p:sp>
        <p:nvSpPr>
          <p:cNvPr id="10" name="Shape 8"/>
          <p:cNvSpPr/>
          <p:nvPr/>
        </p:nvSpPr>
        <p:spPr>
          <a:xfrm flipV="1">
            <a:off x="8001000" y="822960"/>
            <a:ext cx="2057400" cy="731520"/>
          </a:xfrm>
          <a:prstGeom prst="line">
            <a:avLst/>
          </a:prstGeom>
          <a:noFill/>
          <a:ln w="19050">
            <a:solidFill>
              <a:srgbClr val="2F5673"/>
            </a:solidFill>
            <a:prstDash val="solid"/>
          </a:ln>
        </p:spPr>
      </p:sp>
      <p:sp>
        <p:nvSpPr>
          <p:cNvPr id="11" name="Shape 9"/>
          <p:cNvSpPr/>
          <p:nvPr/>
        </p:nvSpPr>
        <p:spPr>
          <a:xfrm>
            <a:off x="10058400" y="822960"/>
            <a:ext cx="1097280" cy="914400"/>
          </a:xfrm>
          <a:prstGeom prst="line">
            <a:avLst/>
          </a:prstGeom>
          <a:noFill/>
          <a:ln w="19050">
            <a:solidFill>
              <a:srgbClr val="2F5673"/>
            </a:solidFill>
            <a:prstDash val="solid"/>
          </a:ln>
        </p:spPr>
      </p:sp>
      <p:sp>
        <p:nvSpPr>
          <p:cNvPr id="12" name="Shape 10"/>
          <p:cNvSpPr/>
          <p:nvPr/>
        </p:nvSpPr>
        <p:spPr>
          <a:xfrm flipV="1">
            <a:off x="7680960" y="1554480"/>
            <a:ext cx="320040" cy="2011680"/>
          </a:xfrm>
          <a:prstGeom prst="line">
            <a:avLst/>
          </a:prstGeom>
          <a:noFill/>
          <a:ln w="19050">
            <a:solidFill>
              <a:srgbClr val="2F5673"/>
            </a:solidFill>
            <a:prstDash val="solid"/>
          </a:ln>
        </p:spPr>
      </p:sp>
      <p:sp>
        <p:nvSpPr>
          <p:cNvPr id="13" name="Shape 11"/>
          <p:cNvSpPr/>
          <p:nvPr/>
        </p:nvSpPr>
        <p:spPr>
          <a:xfrm>
            <a:off x="7680960" y="3566160"/>
            <a:ext cx="548640" cy="1645920"/>
          </a:xfrm>
          <a:prstGeom prst="line">
            <a:avLst/>
          </a:prstGeom>
          <a:noFill/>
          <a:ln w="19050">
            <a:solidFill>
              <a:srgbClr val="2F5673"/>
            </a:solidFill>
            <a:prstDash val="solid"/>
          </a:ln>
        </p:spPr>
      </p:sp>
      <p:sp>
        <p:nvSpPr>
          <p:cNvPr id="14" name="Shape 12"/>
          <p:cNvSpPr/>
          <p:nvPr/>
        </p:nvSpPr>
        <p:spPr>
          <a:xfrm>
            <a:off x="8686800" y="2560320"/>
            <a:ext cx="1463040" cy="1463040"/>
          </a:xfrm>
          <a:prstGeom prst="ellipse">
            <a:avLst/>
          </a:prstGeom>
          <a:solidFill>
            <a:srgbClr val="0E9F8E"/>
          </a:solidFill>
          <a:ln w="6350">
            <a:solidFill>
              <a:srgbClr val="0E9F8E"/>
            </a:solidFill>
            <a:prstDash val="solid"/>
          </a:ln>
        </p:spPr>
      </p:sp>
      <p:sp>
        <p:nvSpPr>
          <p:cNvPr id="15" name="Text 13"/>
          <p:cNvSpPr txBox="1"/>
          <p:nvPr/>
        </p:nvSpPr>
        <p:spPr>
          <a:xfrm>
            <a:off x="8412480" y="3127248"/>
            <a:ext cx="201168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your repo</a:t>
            </a:r>
            <a:endParaRPr lang="en-US" sz="1300" dirty="0"/>
          </a:p>
        </p:txBody>
      </p:sp>
      <p:sp>
        <p:nvSpPr>
          <p:cNvPr id="16" name="Shape 14"/>
          <p:cNvSpPr/>
          <p:nvPr/>
        </p:nvSpPr>
        <p:spPr>
          <a:xfrm>
            <a:off x="7612380" y="1165860"/>
            <a:ext cx="777240" cy="777240"/>
          </a:xfrm>
          <a:prstGeom prst="ellipse">
            <a:avLst/>
          </a:prstGeom>
          <a:solidFill>
            <a:srgbClr val="16324A"/>
          </a:solidFill>
          <a:ln w="25400">
            <a:solidFill>
              <a:srgbClr val="0E9F8E"/>
            </a:solidFill>
            <a:prstDash val="solid"/>
          </a:ln>
        </p:spPr>
      </p:sp>
      <p:sp>
        <p:nvSpPr>
          <p:cNvPr id="17" name="Shape 15"/>
          <p:cNvSpPr/>
          <p:nvPr/>
        </p:nvSpPr>
        <p:spPr>
          <a:xfrm>
            <a:off x="10767060" y="1348740"/>
            <a:ext cx="777240" cy="777240"/>
          </a:xfrm>
          <a:prstGeom prst="ellipse">
            <a:avLst/>
          </a:prstGeom>
          <a:solidFill>
            <a:srgbClr val="16324A"/>
          </a:solidFill>
          <a:ln w="25400">
            <a:solidFill>
              <a:srgbClr val="0E9F8E"/>
            </a:solidFill>
            <a:prstDash val="solid"/>
          </a:ln>
        </p:spPr>
      </p:sp>
      <p:sp>
        <p:nvSpPr>
          <p:cNvPr id="18" name="Shape 16"/>
          <p:cNvSpPr/>
          <p:nvPr/>
        </p:nvSpPr>
        <p:spPr>
          <a:xfrm>
            <a:off x="10904220" y="4457700"/>
            <a:ext cx="777240" cy="777240"/>
          </a:xfrm>
          <a:prstGeom prst="ellipse">
            <a:avLst/>
          </a:prstGeom>
          <a:solidFill>
            <a:srgbClr val="16324A"/>
          </a:solidFill>
          <a:ln w="25400">
            <a:solidFill>
              <a:srgbClr val="0E9F8E"/>
            </a:solidFill>
            <a:prstDash val="solid"/>
          </a:ln>
        </p:spPr>
      </p:sp>
      <p:sp>
        <p:nvSpPr>
          <p:cNvPr id="19" name="Shape 17"/>
          <p:cNvSpPr/>
          <p:nvPr/>
        </p:nvSpPr>
        <p:spPr>
          <a:xfrm>
            <a:off x="7840980" y="4823460"/>
            <a:ext cx="777240" cy="777240"/>
          </a:xfrm>
          <a:prstGeom prst="ellipse">
            <a:avLst/>
          </a:prstGeom>
          <a:solidFill>
            <a:srgbClr val="F2A541"/>
          </a:solidFill>
          <a:ln w="6350">
            <a:solidFill>
              <a:srgbClr val="F2A541"/>
            </a:solidFill>
            <a:prstDash val="solid"/>
          </a:ln>
        </p:spPr>
      </p:sp>
      <p:sp>
        <p:nvSpPr>
          <p:cNvPr id="20" name="Shape 18"/>
          <p:cNvSpPr/>
          <p:nvPr/>
        </p:nvSpPr>
        <p:spPr>
          <a:xfrm>
            <a:off x="9921240" y="685800"/>
            <a:ext cx="274320" cy="274320"/>
          </a:xfrm>
          <a:prstGeom prst="ellipse">
            <a:avLst/>
          </a:prstGeom>
          <a:solidFill>
            <a:srgbClr val="5B6B7A"/>
          </a:solidFill>
          <a:ln w="6350">
            <a:solidFill>
              <a:srgbClr val="5B6B7A"/>
            </a:solidFill>
            <a:prstDash val="solid"/>
          </a:ln>
        </p:spPr>
      </p:sp>
      <p:sp>
        <p:nvSpPr>
          <p:cNvPr id="21" name="Shape 19"/>
          <p:cNvSpPr/>
          <p:nvPr/>
        </p:nvSpPr>
        <p:spPr>
          <a:xfrm>
            <a:off x="7543800" y="3429000"/>
            <a:ext cx="274320" cy="274320"/>
          </a:xfrm>
          <a:prstGeom prst="ellipse">
            <a:avLst/>
          </a:prstGeom>
          <a:solidFill>
            <a:srgbClr val="5B6B7A"/>
          </a:solidFill>
          <a:ln w="6350">
            <a:solidFill>
              <a:srgbClr val="5B6B7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Cartograph — IBM Bob 2.0 Hackathon</dc:title>
  <dc:subject>PptxGenJS Presentation</dc:subject>
  <dc:creator>PptxGenJS</dc:creator>
  <cp:lastModifiedBy>PptxGenJS</cp:lastModifiedBy>
  <cp:revision>1</cp:revision>
  <dcterms:created xsi:type="dcterms:W3CDTF">2026-09-27T11:37:18Z</dcterms:created>
  <dcterms:modified xsi:type="dcterms:W3CDTF">2026-09-27T11:37:18Z</dcterms:modified>
</cp:coreProperties>
</file>